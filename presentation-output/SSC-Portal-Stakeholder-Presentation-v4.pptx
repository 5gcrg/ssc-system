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e6ec4be8514254" /><Relationship Type="http://schemas.openxmlformats.org/officeDocument/2006/relationships/extended-properties" Target="/docProps/app.xml" Id="R9da03072734d42e9" /><Relationship Type="http://schemas.openxmlformats.org/officeDocument/2006/relationships/officeDocument" Target="/ppt/presentation.xml" Id="R7c445a5d170a4ac2" /></Relationships>
</file>

<file path=ppt/presentation.xml><?xml version="1.0" encoding="utf-8"?>
<p:presentation xmlns:p="http://schemas.openxmlformats.org/presentationml/2006/main">
  <p:sldMasterIdLst>
    <p:sldMasterId xmlns:r="http://schemas.openxmlformats.org/officeDocument/2006/relationships" id="2147483648" r:id="Rbf36dea666e94e97"/>
  </p:sldMasterIdLst>
  <p:notesMasterIdLst>
    <p:notesMasterId xmlns:r="http://schemas.openxmlformats.org/officeDocument/2006/relationships" r:id="R56759dbe98304960"/>
  </p:notesMasterIdLst>
  <p:sldIdLst>
    <p:sldId xmlns:r="http://schemas.openxmlformats.org/officeDocument/2006/relationships" id="256" r:id="R2030c27ba81348f4"/>
    <p:sldId xmlns:r="http://schemas.openxmlformats.org/officeDocument/2006/relationships" id="257" r:id="Rdd079a814b8a499a"/>
    <p:sldId xmlns:r="http://schemas.openxmlformats.org/officeDocument/2006/relationships" id="258" r:id="R2384942cc97d4114"/>
    <p:sldId xmlns:r="http://schemas.openxmlformats.org/officeDocument/2006/relationships" id="259" r:id="R0ad1bfc4b7624dff"/>
    <p:sldId xmlns:r="http://schemas.openxmlformats.org/officeDocument/2006/relationships" id="260" r:id="Rec0104aa4e3e48c8"/>
    <p:sldId xmlns:r="http://schemas.openxmlformats.org/officeDocument/2006/relationships" id="261" r:id="R96651b0f6c5b41d8"/>
    <p:sldId xmlns:r="http://schemas.openxmlformats.org/officeDocument/2006/relationships" id="262" r:id="R971d310d5fdc43e6"/>
    <p:sldId xmlns:r="http://schemas.openxmlformats.org/officeDocument/2006/relationships" id="263" r:id="R7d84a39f31b2429e"/>
    <p:sldId xmlns:r="http://schemas.openxmlformats.org/officeDocument/2006/relationships" id="264" r:id="R05d2f7b87aa04c44"/>
    <p:sldId xmlns:r="http://schemas.openxmlformats.org/officeDocument/2006/relationships" id="265" r:id="R14ab12dd55d14ae2"/>
    <p:sldId xmlns:r="http://schemas.openxmlformats.org/officeDocument/2006/relationships" id="266" r:id="Rf44749edd9a44292"/>
    <p:sldId xmlns:r="http://schemas.openxmlformats.org/officeDocument/2006/relationships" id="267" r:id="R97df1404d0224d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f3d6cc8661454c" /><Relationship Type="http://schemas.openxmlformats.org/officeDocument/2006/relationships/slideMaster" Target="/ppt/slideMasters/slideMaster1.xml" Id="Rbf36dea666e94e97" /><Relationship Type="http://schemas.openxmlformats.org/officeDocument/2006/relationships/notesMaster" Target="/ppt/notesMasters/notesMaster1.xml" Id="R56759dbe98304960" /><Relationship Type="http://schemas.openxmlformats.org/officeDocument/2006/relationships/presProps" Target="/ppt/presProps.xml" Id="Rbc59a0fb7d664fe4" /><Relationship Type="http://schemas.openxmlformats.org/officeDocument/2006/relationships/tableStyles" Target="/ppt/tableStyles.xml" Id="Rdcc6849c47e840d6" /><Relationship Type="http://schemas.openxmlformats.org/officeDocument/2006/relationships/slide" Target="/ppt/slides/slide1.xml" Id="R2030c27ba81348f4" /><Relationship Type="http://schemas.openxmlformats.org/officeDocument/2006/relationships/slide" Target="/ppt/slides/slide2.xml" Id="Rdd079a814b8a499a" /><Relationship Type="http://schemas.openxmlformats.org/officeDocument/2006/relationships/slide" Target="/ppt/slides/slide3.xml" Id="R2384942cc97d4114" /><Relationship Type="http://schemas.openxmlformats.org/officeDocument/2006/relationships/slide" Target="/ppt/slides/slide4.xml" Id="R0ad1bfc4b7624dff" /><Relationship Type="http://schemas.openxmlformats.org/officeDocument/2006/relationships/slide" Target="/ppt/slides/slide5.xml" Id="Rec0104aa4e3e48c8" /><Relationship Type="http://schemas.openxmlformats.org/officeDocument/2006/relationships/slide" Target="/ppt/slides/slide6.xml" Id="R96651b0f6c5b41d8" /><Relationship Type="http://schemas.openxmlformats.org/officeDocument/2006/relationships/slide" Target="/ppt/slides/slide7.xml" Id="R971d310d5fdc43e6" /><Relationship Type="http://schemas.openxmlformats.org/officeDocument/2006/relationships/slide" Target="/ppt/slides/slide8.xml" Id="R7d84a39f31b2429e" /><Relationship Type="http://schemas.openxmlformats.org/officeDocument/2006/relationships/slide" Target="/ppt/slides/slide9.xml" Id="R05d2f7b87aa04c44" /><Relationship Type="http://schemas.openxmlformats.org/officeDocument/2006/relationships/slide" Target="/ppt/slides/slide10.xml" Id="R14ab12dd55d14ae2" /><Relationship Type="http://schemas.openxmlformats.org/officeDocument/2006/relationships/slide" Target="/ppt/slides/slide11.xml" Id="Rf44749edd9a44292" /><Relationship Type="http://schemas.openxmlformats.org/officeDocument/2006/relationships/slide" Target="/ppt/slides/slide12.xml" Id="R97df1404d0224d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460f0f5db542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62cb620be443ed" /><Relationship Type="http://schemas.openxmlformats.org/officeDocument/2006/relationships/notesMaster" Target="/ppt/notesMasters/notesMaster1.xml" Id="R0517ba04e0ca4a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7411b871984ca9" /><Relationship Type="http://schemas.openxmlformats.org/officeDocument/2006/relationships/notesMaster" Target="/ppt/notesMasters/notesMaster1.xml" Id="R6e3379efc55949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974408a6b54a08" /><Relationship Type="http://schemas.openxmlformats.org/officeDocument/2006/relationships/notesMaster" Target="/ppt/notesMasters/notesMaster1.xml" Id="R2864e3cc2d1d4e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24ad4ac5564896" /><Relationship Type="http://schemas.openxmlformats.org/officeDocument/2006/relationships/notesMaster" Target="/ppt/notesMasters/notesMaster1.xml" Id="R4b73a44a570441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2d23f89fa54509" /><Relationship Type="http://schemas.openxmlformats.org/officeDocument/2006/relationships/notesMaster" Target="/ppt/notesMasters/notesMaster1.xml" Id="R01a35cf3b28347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77c0dee43543f8" /><Relationship Type="http://schemas.openxmlformats.org/officeDocument/2006/relationships/notesMaster" Target="/ppt/notesMasters/notesMaster1.xml" Id="R4c49edeb1e204d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1deb2ce8ce4c5a" /><Relationship Type="http://schemas.openxmlformats.org/officeDocument/2006/relationships/notesMaster" Target="/ppt/notesMasters/notesMaster1.xml" Id="R5d7c8dc3e58047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9379b5e6c2416a" /><Relationship Type="http://schemas.openxmlformats.org/officeDocument/2006/relationships/notesMaster" Target="/ppt/notesMasters/notesMaster1.xml" Id="R8e562a953a8446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c8249bab694b7f" /><Relationship Type="http://schemas.openxmlformats.org/officeDocument/2006/relationships/notesMaster" Target="/ppt/notesMasters/notesMaster1.xml" Id="R8dca037159cb42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9d6ea16b9e4ad0" /><Relationship Type="http://schemas.openxmlformats.org/officeDocument/2006/relationships/notesMaster" Target="/ppt/notesMasters/notesMaster1.xml" Id="Re4b3d9bb527944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093cf4e770429a" /><Relationship Type="http://schemas.openxmlformats.org/officeDocument/2006/relationships/notesMaster" Target="/ppt/notesMasters/notesMaster1.xml" Id="R53e5ce4e52314e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3a8ee4d7e347ac" /><Relationship Type="http://schemas.openxmlformats.org/officeDocument/2006/relationships/notesMaster" Target="/ppt/notesMasters/notesMaster1.xml" Id="R0b5c9a277e854e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0:30</a:t>
            </a:r>
          </a:p>
          <a:p xmlns:a="http://schemas.openxmlformats.org/drawingml/2006/main">
            <a:r>
              <a:t/>
            </a:r>
          </a:p>
          <a:p xmlns:a="http://schemas.openxmlformats.org/drawingml/2006/main">
            <a:r>
              <a:t>Recommended visual: Landing-page screenshot cropped to emphasize the campus building and portal identity.</a:t>
            </a:r>
          </a:p>
          <a:p xmlns:a="http://schemas.openxmlformats.org/drawingml/2006/main">
            <a:r>
              <a:t/>
            </a:r>
          </a:p>
          <a:p xmlns:a="http://schemas.openxmlformats.org/drawingml/2006/main">
            <a:r>
              <a:t>What to say:</a:t>
            </a:r>
          </a:p>
          <a:p xmlns:a="http://schemas.openxmlformats.org/drawingml/2006/main">
            <a:r>
              <a:t>Good morning. Every campus event begins with an idea, but turning that idea into an approved activity requires coordination between students, moderators, and administrators. Our project, the SSC Portal, gives that coordination one clear path.</a:t>
            </a:r>
          </a:p>
          <a:p xmlns:a="http://schemas.openxmlformats.org/drawingml/2006/main">
            <a:r>
              <a:t/>
            </a:r>
          </a:p>
          <a:p xmlns:a="http://schemas.openxmlformats.org/drawingml/2006/main">
            <a:r>
              <a:t>Suggested transition:</a:t>
            </a:r>
          </a:p>
          <a:p xmlns:a="http://schemas.openxmlformats.org/drawingml/2006/main">
            <a:r>
              <a:t>Before we show the system, let us begin with the situation that made it necessary.</a:t>
            </a:r>
          </a:p>
          <a:p xmlns:a="http://schemas.openxmlformats.org/drawingml/2006/main">
            <a:r>
              <a:t/>
            </a:r>
          </a:p>
          <a:p xmlns:a="http://schemas.openxmlformats.org/drawingml/2006/main">
            <a:r>
              <a:t>Evidence: User-provided SSC Portal landing-page screenshot; project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0:45</a:t>
            </a:r>
          </a:p>
          <a:p xmlns:a="http://schemas.openxmlformats.org/drawingml/2006/main">
            <a:r>
              <a:t/>
            </a:r>
          </a:p>
          <a:p xmlns:a="http://schemas.openxmlformats.org/drawingml/2006/main">
            <a:r>
              <a:t>Recommended visual: Editable four-stage process diagram showing the information that travels with one proposal.</a:t>
            </a:r>
          </a:p>
          <a:p xmlns:a="http://schemas.openxmlformats.org/drawingml/2006/main">
            <a:r>
              <a:t/>
            </a:r>
          </a:p>
          <a:p xmlns:a="http://schemas.openxmlformats.org/drawingml/2006/main">
            <a:r>
              <a:t>What to say:</a:t>
            </a:r>
          </a:p>
          <a:p xmlns:a="http://schemas.openxmlformats.org/drawingml/2006/main">
            <a:r>
              <a:t>The challenge is not simply creating a form. One proposal carries event details, required documents, reviewer responsibilities, and a changing status. When those pieces are tracked separately, students may not know what is missing, reviewers may not know what needs attention, and administrators spend more time following up.</a:t>
            </a:r>
          </a:p>
          <a:p xmlns:a="http://schemas.openxmlformats.org/drawingml/2006/main">
            <a:r>
              <a:t/>
            </a:r>
          </a:p>
          <a:p xmlns:a="http://schemas.openxmlformats.org/drawingml/2006/main">
            <a:r>
              <a:t>Suggested transition:</a:t>
            </a:r>
          </a:p>
          <a:p xmlns:a="http://schemas.openxmlformats.org/drawingml/2006/main">
            <a:r>
              <a:t>That uncertainty affects each person differently.</a:t>
            </a:r>
          </a:p>
          <a:p xmlns:a="http://schemas.openxmlformats.org/drawingml/2006/main">
            <a:r>
              <a:t/>
            </a:r>
          </a:p>
          <a:p xmlns:a="http://schemas.openxmlformats.org/drawingml/2006/main">
            <a:r>
              <a:t>Evidence: Implemented submission, document, review, and status workflow in the backend and 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0:50</a:t>
            </a:r>
          </a:p>
          <a:p xmlns:a="http://schemas.openxmlformats.org/drawingml/2006/main">
            <a:r>
              <a:t/>
            </a:r>
          </a:p>
          <a:p xmlns:a="http://schemas.openxmlformats.org/drawingml/2006/main">
            <a:r>
              <a:t>Recommended visual: Three horizontal role statements, with one practical question for each user.</a:t>
            </a:r>
          </a:p>
          <a:p xmlns:a="http://schemas.openxmlformats.org/drawingml/2006/main">
            <a:r>
              <a:t/>
            </a:r>
          </a:p>
          <a:p xmlns:a="http://schemas.openxmlformats.org/drawingml/2006/main">
            <a:r>
              <a:t>What to say:</a:t>
            </a:r>
          </a:p>
          <a:p xmlns:a="http://schemas.openxmlformats.org/drawingml/2006/main">
            <a:r>
              <a:t>A student needs clarity about requirements and status. A moderator needs to see assigned documents and the decision waiting for them. An administrator needs a reliable record of users, organizations, departments, and submissions. The system succeeds only when all three roles can work from the same information.</a:t>
            </a:r>
          </a:p>
          <a:p xmlns:a="http://schemas.openxmlformats.org/drawingml/2006/main">
            <a:r>
              <a:t/>
            </a:r>
          </a:p>
          <a:p xmlns:a="http://schemas.openxmlformats.org/drawingml/2006/main">
            <a:r>
              <a:t>Suggested transition:</a:t>
            </a:r>
          </a:p>
          <a:p xmlns:a="http://schemas.openxmlformats.org/drawingml/2006/main">
            <a:r>
              <a:t>That shared information became the central idea behind our solution.</a:t>
            </a:r>
          </a:p>
          <a:p xmlns:a="http://schemas.openxmlformats.org/drawingml/2006/main">
            <a:r>
              <a:t/>
            </a:r>
          </a:p>
          <a:p xmlns:a="http://schemas.openxmlformats.org/drawingml/2006/main">
            <a:r>
              <a:t>Evidence: Role model and role-scoped submission access in the backend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0:40</a:t>
            </a:r>
          </a:p>
          <a:p xmlns:a="http://schemas.openxmlformats.org/drawingml/2006/main">
            <a:r>
              <a:t/>
            </a:r>
          </a:p>
          <a:p xmlns:a="http://schemas.openxmlformats.org/drawingml/2006/main">
            <a:r>
              <a:t>Recommended visual: Actual student dashboard screenshot beside a short solution statement.</a:t>
            </a:r>
          </a:p>
          <a:p xmlns:a="http://schemas.openxmlformats.org/drawingml/2006/main">
            <a:r>
              <a:t/>
            </a:r>
          </a:p>
          <a:p xmlns:a="http://schemas.openxmlformats.org/drawingml/2006/main">
            <a:r>
              <a:t>What to say:</a:t>
            </a:r>
          </a:p>
          <a:p xmlns:a="http://schemas.openxmlformats.org/drawingml/2006/main">
            <a:r>
              <a:t>Our idea is one shared portal built around the proposal journey. The student dashboard shows submissions, pending reviews, outcomes, and the next action. The same proposal then becomes visible to the people responsible for reviewing and managing it.</a:t>
            </a:r>
          </a:p>
          <a:p xmlns:a="http://schemas.openxmlformats.org/drawingml/2006/main">
            <a:r>
              <a:t/>
            </a:r>
          </a:p>
          <a:p xmlns:a="http://schemas.openxmlformats.org/drawingml/2006/main">
            <a:r>
              <a:t>Suggested transition:</a:t>
            </a:r>
          </a:p>
          <a:p xmlns:a="http://schemas.openxmlformats.org/drawingml/2006/main">
            <a:r>
              <a:t>To make this concrete, Presenter 2 will follow one proposal through the system.</a:t>
            </a:r>
          </a:p>
          <a:p xmlns:a="http://schemas.openxmlformats.org/drawingml/2006/main">
            <a:r>
              <a:t/>
            </a:r>
          </a:p>
          <a:p xmlns:a="http://schemas.openxmlformats.org/drawingml/2006/main">
            <a:r>
              <a:t>Evidence: User-provided student dashboard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proposal preview screenshot, with three narrative points beside it.</a:t>
            </a:r>
          </a:p>
          <a:p xmlns:a="http://schemas.openxmlformats.org/drawingml/2006/main">
            <a:r>
              <a:t/>
            </a:r>
          </a:p>
          <a:p xmlns:a="http://schemas.openxmlformats.org/drawingml/2006/main">
            <a:r>
              <a:t>What to say:</a:t>
            </a:r>
          </a:p>
          <a:p xmlns:a="http://schemas.openxmlformats.org/drawingml/2006/main">
            <a:r>
              <a:t>In this example, Jeferson prepares a General Assembly proposal. Before submission, the portal presents the event as one readable record. The event details, responsible people, and intended sign-off path appear together. This lets the student confirm the proposal before it moves forward.</a:t>
            </a:r>
          </a:p>
          <a:p xmlns:a="http://schemas.openxmlformats.org/drawingml/2006/main">
            <a:r>
              <a:t/>
            </a:r>
          </a:p>
          <a:p xmlns:a="http://schemas.openxmlformats.org/drawingml/2006/main">
            <a:r>
              <a:t>Suggested transition:</a:t>
            </a:r>
          </a:p>
          <a:p xmlns:a="http://schemas.openxmlformats.org/drawingml/2006/main">
            <a:r>
              <a:t>A complete proposal also depends on the right supporting documents.</a:t>
            </a:r>
          </a:p>
          <a:p xmlns:a="http://schemas.openxmlformats.org/drawingml/2006/main">
            <a:r>
              <a:t/>
            </a:r>
          </a:p>
          <a:p xmlns:a="http://schemas.openxmlformats.org/drawingml/2006/main">
            <a:r>
              <a:t>Evidence: User-provided activity proposal preview screenshot; implemented proposal data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required-document checklist screenshot with three highlighted outcomes.</a:t>
            </a:r>
          </a:p>
          <a:p xmlns:a="http://schemas.openxmlformats.org/drawingml/2006/main">
            <a:r>
              <a:t/>
            </a:r>
          </a:p>
          <a:p xmlns:a="http://schemas.openxmlformats.org/drawingml/2006/main">
            <a:r>
              <a:t>What to say:</a:t>
            </a:r>
          </a:p>
          <a:p xmlns:a="http://schemas.openxmlformats.org/drawingml/2006/main">
            <a:r>
              <a:t>Instead of asking students to remember every requirement, the portal turns the checklist into a guided step. Each required file has a name, an assigned reviewer, an accepted format, and a size limit. The student can see what remains before attempting to finalize the proposal.</a:t>
            </a:r>
          </a:p>
          <a:p xmlns:a="http://schemas.openxmlformats.org/drawingml/2006/main">
            <a:r>
              <a:t/>
            </a:r>
          </a:p>
          <a:p xmlns:a="http://schemas.openxmlformats.org/drawingml/2006/main">
            <a:r>
              <a:t>Suggested transition:</a:t>
            </a:r>
          </a:p>
          <a:p xmlns:a="http://schemas.openxmlformats.org/drawingml/2006/main">
            <a:r>
              <a:t>Once the student submits, the same record becomes visible to staff.</a:t>
            </a:r>
          </a:p>
          <a:p xmlns:a="http://schemas.openxmlformats.org/drawingml/2006/main">
            <a:r>
              <a:t/>
            </a:r>
          </a:p>
          <a:p xmlns:a="http://schemas.openxmlformats.org/drawingml/2006/main">
            <a:r>
              <a:t>Evidence: User-provided required documents screenshot; checklist and document policy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0:50</a:t>
            </a:r>
          </a:p>
          <a:p xmlns:a="http://schemas.openxmlformats.org/drawingml/2006/main">
            <a:r>
              <a:t/>
            </a:r>
          </a:p>
          <a:p xmlns:a="http://schemas.openxmlformats.org/drawingml/2006/main">
            <a:r>
              <a:t>Recommended visual: Actual Events and Submissions screen, emphasizing visible states and the Review action.</a:t>
            </a:r>
          </a:p>
          <a:p xmlns:a="http://schemas.openxmlformats.org/drawingml/2006/main">
            <a:r>
              <a:t/>
            </a:r>
          </a:p>
          <a:p xmlns:a="http://schemas.openxmlformats.org/drawingml/2006/main">
            <a:r>
              <a:t>What to say:</a:t>
            </a:r>
          </a:p>
          <a:p xmlns:a="http://schemas.openxmlformats.org/drawingml/2006/main">
            <a:r>
              <a:t>Staff do not need a separate copy of the event. The portal places the same proposal in a review queue, where its organization, event type, date, document count, and status remain visible. Draft and pending work can be distinguished immediately, and authorized staff can open the record for review.</a:t>
            </a:r>
          </a:p>
          <a:p xmlns:a="http://schemas.openxmlformats.org/drawingml/2006/main">
            <a:r>
              <a:t/>
            </a:r>
          </a:p>
          <a:p xmlns:a="http://schemas.openxmlformats.org/drawingml/2006/main">
            <a:r>
              <a:t>Suggested transition:</a:t>
            </a:r>
          </a:p>
          <a:p xmlns:a="http://schemas.openxmlformats.org/drawingml/2006/main">
            <a:r>
              <a:t>That workflow depends on accurate people and organization records behind it.</a:t>
            </a:r>
          </a:p>
          <a:p xmlns:a="http://schemas.openxmlformats.org/drawingml/2006/main">
            <a:r>
              <a:t/>
            </a:r>
          </a:p>
          <a:p xmlns:a="http://schemas.openxmlformats.org/drawingml/2006/main">
            <a:r>
              <a:t>Evidence: User-provided Events and Submissions screenshot; role-scoped submission listing.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masterlist, organization, and department screens with verified record counts.</a:t>
            </a:r>
          </a:p>
          <a:p xmlns:a="http://schemas.openxmlformats.org/drawingml/2006/main">
            <a:r>
              <a:t/>
            </a:r>
          </a:p>
          <a:p xmlns:a="http://schemas.openxmlformats.org/drawingml/2006/main">
            <a:r>
              <a:t>What to say:</a:t>
            </a:r>
          </a:p>
          <a:p xmlns:a="http://schemas.openxmlformats.org/drawingml/2006/main">
            <a:r>
              <a:t>Every proposal relies on trusted identity and directory data. The current migration carries 278 registrar records, five active organizations, and six departments or offices. Student and faculty IDs accept numeric values without forcing one display format, which protects valid records from inconsistent source formatting. Presenter 3 will now connect this workflow to stakeholder value, readiness, and next steps.</a:t>
            </a:r>
          </a:p>
          <a:p xmlns:a="http://schemas.openxmlformats.org/drawingml/2006/main">
            <a:r>
              <a:t/>
            </a:r>
          </a:p>
          <a:p xmlns:a="http://schemas.openxmlformats.org/drawingml/2006/main">
            <a:r>
              <a:t>Suggested transition:</a:t>
            </a:r>
          </a:p>
          <a:p xmlns:a="http://schemas.openxmlformats.org/drawingml/2006/main">
            <a:r>
              <a:t>The value appears in the questions each role can now answer.</a:t>
            </a:r>
          </a:p>
          <a:p xmlns:a="http://schemas.openxmlformats.org/drawingml/2006/main">
            <a:r>
              <a:t/>
            </a:r>
          </a:p>
          <a:p xmlns:a="http://schemas.openxmlformats.org/drawingml/2006/main">
            <a:r>
              <a:t>Evidence: Screenshots supplied by the user; migrations V58 through V60; clean database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0:50</a:t>
            </a:r>
          </a:p>
          <a:p xmlns:a="http://schemas.openxmlformats.org/drawingml/2006/main">
            <a:r>
              <a:t/>
            </a:r>
          </a:p>
          <a:p xmlns:a="http://schemas.openxmlformats.org/drawingml/2006/main">
            <a:r>
              <a:t>Recommended visual: Four role-based outcomes on a dark background, with no feature grid.</a:t>
            </a:r>
          </a:p>
          <a:p xmlns:a="http://schemas.openxmlformats.org/drawingml/2006/main">
            <a:r>
              <a:t/>
            </a:r>
          </a:p>
          <a:p xmlns:a="http://schemas.openxmlformats.org/drawingml/2006/main">
            <a:r>
              <a:t>What to say:</a:t>
            </a:r>
          </a:p>
          <a:p xmlns:a="http://schemas.openxmlformats.org/drawingml/2006/main">
            <a:r>
              <a:t>The portal creates a different benefit for each stakeholder. Students gain clarity. Moderators see the work assigned to them. Administrators work from a current record instead of reconciling separate copies. Stakeholders gain a process whose status and responsibility remain visible from proposal creation through review.</a:t>
            </a:r>
          </a:p>
          <a:p xmlns:a="http://schemas.openxmlformats.org/drawingml/2006/main">
            <a:r>
              <a:t/>
            </a:r>
          </a:p>
          <a:p xmlns:a="http://schemas.openxmlformats.org/drawingml/2006/main">
            <a:r>
              <a:t>Suggested transition:</a:t>
            </a:r>
          </a:p>
          <a:p xmlns:a="http://schemas.openxmlformats.org/drawingml/2006/main">
            <a:r>
              <a:t>That experience rests on a straightforward technical foundation.</a:t>
            </a:r>
          </a:p>
          <a:p xmlns:a="http://schemas.openxmlformats.org/drawingml/2006/main">
            <a:r>
              <a:t/>
            </a:r>
          </a:p>
          <a:p xmlns:a="http://schemas.openxmlformats.org/drawingml/2006/main">
            <a:r>
              <a:t>Evidence: Implemented role-based screens, document review workflow, status timeline, and administrative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0:55</a:t>
            </a:r>
          </a:p>
          <a:p xmlns:a="http://schemas.openxmlformats.org/drawingml/2006/main">
            <a:r>
              <a:t/>
            </a:r>
          </a:p>
          <a:p xmlns:a="http://schemas.openxmlformats.org/drawingml/2006/main">
            <a:r>
              <a:t>Recommended visual: Editable architecture diagram using plain-language labels for browser, services, database, and file storage.</a:t>
            </a:r>
          </a:p>
          <a:p xmlns:a="http://schemas.openxmlformats.org/drawingml/2006/main">
            <a:r>
              <a:t/>
            </a:r>
          </a:p>
          <a:p xmlns:a="http://schemas.openxmlformats.org/drawingml/2006/main">
            <a:r>
              <a:t>What to say:</a:t>
            </a:r>
          </a:p>
          <a:p xmlns:a="http://schemas.openxmlformats.org/drawingml/2006/main">
            <a:r>
              <a:t>Behind the screen, the web portal connects to application services that apply access rules, check requirements, and move each proposal through its status flow. The database keeps records and history, while separate file storage holds uploaded documents. The current system does not use AI to approve or reject proposals. Authorized people make those decisions, and the system provides consistent information for them.</a:t>
            </a:r>
          </a:p>
          <a:p xmlns:a="http://schemas.openxmlformats.org/drawingml/2006/main">
            <a:r>
              <a:t/>
            </a:r>
          </a:p>
          <a:p xmlns:a="http://schemas.openxmlformats.org/drawingml/2006/main">
            <a:r>
              <a:t>Suggested transition:</a:t>
            </a:r>
          </a:p>
          <a:p xmlns:a="http://schemas.openxmlformats.org/drawingml/2006/main">
            <a:r>
              <a:t>We have also tested whether this foundation can be set up and used reliably.</a:t>
            </a:r>
          </a:p>
          <a:p xmlns:a="http://schemas.openxmlformats.org/drawingml/2006/main">
            <a:r>
              <a:t/>
            </a:r>
          </a:p>
          <a:p xmlns:a="http://schemas.openxmlformats.org/drawingml/2006/main">
            <a:r>
              <a:t>Evidence: Project README architecture; Next.js frontend; Spring Boot services; MariaDB/MySQL; MinIO; repository search found no implemented AI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1:05</a:t>
            </a:r>
          </a:p>
          <a:p xmlns:a="http://schemas.openxmlformats.org/drawingml/2006/main">
            <a:r>
              <a:t/>
            </a:r>
          </a:p>
          <a:p xmlns:a="http://schemas.openxmlformats.org/drawingml/2006/main">
            <a:r>
              <a:t>Recommended visual: Three verified progress numbers, followed by a clear Ready Today and Next Before Wider Rollout split.</a:t>
            </a:r>
          </a:p>
          <a:p xmlns:a="http://schemas.openxmlformats.org/drawingml/2006/main">
            <a:r>
              <a:t/>
            </a:r>
          </a:p>
          <a:p xmlns:a="http://schemas.openxmlformats.org/drawingml/2006/main">
            <a:r>
              <a:t>What to say:</a:t>
            </a:r>
          </a:p>
          <a:p xmlns:a="http://schemas.openxmlformats.org/drawingml/2006/main">
            <a:r>
              <a:t>The current build has passed 33 backend tests, 12 browser scenarios, and a clean database setup through migration V60. The core student and review workflow is implemented, and the current records travel with a new installation. Before wider rollout, we recommend formal stakeholder user acceptance testing, production credential and access policies, and final email, backup, and deployment configuration. AI assistance could later help identify incomplete documents or summarize drafts, but that capability is planned only and would require stakeholder policy review.</a:t>
            </a:r>
          </a:p>
          <a:p xmlns:a="http://schemas.openxmlformats.org/drawingml/2006/main">
            <a:r>
              <a:t/>
            </a:r>
          </a:p>
          <a:p xmlns:a="http://schemas.openxmlformats.org/drawingml/2006/main">
            <a:r>
              <a:t>Suggested transition:</a:t>
            </a:r>
          </a:p>
          <a:p xmlns:a="http://schemas.openxmlformats.org/drawingml/2006/main">
            <a:r>
              <a:t>This leaves us with one practical question: what changes when every event has a clear next step?</a:t>
            </a:r>
          </a:p>
          <a:p xmlns:a="http://schemas.openxmlformats.org/drawingml/2006/main">
            <a:r>
              <a:t/>
            </a:r>
          </a:p>
          <a:p xmlns:a="http://schemas.openxmlformats.org/drawingml/2006/main">
            <a:r>
              <a:t>Evidence: Latest Maven test reports; Playwright run; clean V1–V60 migration verification; setup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0:35</a:t>
            </a:r>
          </a:p>
          <a:p xmlns:a="http://schemas.openxmlformats.org/drawingml/2006/main">
            <a:r>
              <a:t/>
            </a:r>
          </a:p>
          <a:p xmlns:a="http://schemas.openxmlformats.org/drawingml/2006/main">
            <a:r>
              <a:t>Recommended visual: Minimal closing slide in the portal’s primary red, with one recommendation.</a:t>
            </a:r>
          </a:p>
          <a:p xmlns:a="http://schemas.openxmlformats.org/drawingml/2006/main">
            <a:r>
              <a:t/>
            </a:r>
          </a:p>
          <a:p xmlns:a="http://schemas.openxmlformats.org/drawingml/2006/main">
            <a:r>
              <a:t>What to say:</a:t>
            </a:r>
          </a:p>
          <a:p xmlns:a="http://schemas.openxmlformats.org/drawingml/2006/main">
            <a:r>
              <a:t>The expected impact is a proposal process that people can understand and follow. Students know what to do next, staff can focus on the review in front of them, and stakeholders gain clearer visibility from planning through approval. Our recommended next step is stakeholder user testing with real scenarios. Thank you, and we welcome your questions.</a:t>
            </a:r>
          </a:p>
          <a:p xmlns:a="http://schemas.openxmlformats.org/drawingml/2006/main">
            <a:r>
              <a:t/>
            </a:r>
          </a:p>
          <a:p xmlns:a="http://schemas.openxmlformats.org/drawingml/2006/main">
            <a:r>
              <a:t>Suggested transition:</a:t>
            </a:r>
          </a:p>
          <a:p xmlns:a="http://schemas.openxmlformats.org/drawingml/2006/main">
            <a:r>
              <a:t>Open the floor for stakeholder questions and feedback.</a:t>
            </a:r>
          </a:p>
          <a:p xmlns:a="http://schemas.openxmlformats.org/drawingml/2006/main">
            <a:r>
              <a:t/>
            </a:r>
          </a:p>
          <a:p xmlns:a="http://schemas.openxmlformats.org/drawingml/2006/main">
            <a:r>
              <a:t>Evidence: Synthesis of implemented workflow and verified project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69e3edf2ef4d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14abc11b204727" /><Relationship Type="http://schemas.openxmlformats.org/officeDocument/2006/relationships/slideLayout" Target="/ppt/slideLayouts/slideLayout1.xml" Id="R69ab5bf3ee4e48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ab5bf3ee4e48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af06ee643242e4" /><Relationship Type="http://schemas.openxmlformats.org/officeDocument/2006/relationships/image" Target="/ppt/media/image.png" Id="R9764014b34e24597" /><Relationship Type="http://schemas.openxmlformats.org/officeDocument/2006/relationships/notesSlide" Target="/ppt/notesSlides/notesSlide1.xml" Id="R5e9f7cd76c0342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ca9fd411ee4e06" /><Relationship Type="http://schemas.openxmlformats.org/officeDocument/2006/relationships/notesSlide" Target="/ppt/notesSlides/notesSlide2.xml" Id="Rf4c1f161849f4b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d8be59106da47be" /><Relationship Type="http://schemas.openxmlformats.org/officeDocument/2006/relationships/notesSlide" Target="/ppt/notesSlides/notesSlide3.xml" Id="Rc6723b3943dc4b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7f4cb6a05e490b" /><Relationship Type="http://schemas.openxmlformats.org/officeDocument/2006/relationships/image" Target="/ppt/media/image2.png" Id="Rd0a2d6637d084ee2" /><Relationship Type="http://schemas.openxmlformats.org/officeDocument/2006/relationships/notesSlide" Target="/ppt/notesSlides/notesSlide4.xml" Id="R5b7f0efe6c0e42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ae8943b37945ed" /><Relationship Type="http://schemas.openxmlformats.org/officeDocument/2006/relationships/image" Target="/ppt/media/image3.png" Id="R2314f963d6914a62" /><Relationship Type="http://schemas.openxmlformats.org/officeDocument/2006/relationships/notesSlide" Target="/ppt/notesSlides/notesSlide5.xml" Id="R64a29e996aa645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025a96e364e4163" /><Relationship Type="http://schemas.openxmlformats.org/officeDocument/2006/relationships/image" Target="/ppt/media/image4.png" Id="R47be4a47e0d943a7" /><Relationship Type="http://schemas.openxmlformats.org/officeDocument/2006/relationships/notesSlide" Target="/ppt/notesSlides/notesSlide6.xml" Id="Re8c2d73724e04b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1104eb85d81453b" /><Relationship Type="http://schemas.openxmlformats.org/officeDocument/2006/relationships/image" Target="/ppt/media/image5.png" Id="R32041205d5bf4af8" /><Relationship Type="http://schemas.openxmlformats.org/officeDocument/2006/relationships/notesSlide" Target="/ppt/notesSlides/notesSlide7.xml" Id="R04294de192814d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8f3c99eb894661" /><Relationship Type="http://schemas.openxmlformats.org/officeDocument/2006/relationships/image" Target="/ppt/media/image6.png" Id="R7f9aac38e0ea4a44" /><Relationship Type="http://schemas.openxmlformats.org/officeDocument/2006/relationships/image" Target="/ppt/media/image7.png" Id="Rc8c29263b1464aba" /><Relationship Type="http://schemas.openxmlformats.org/officeDocument/2006/relationships/image" Target="/ppt/media/image8.png" Id="Re9dfe8434148475a" /><Relationship Type="http://schemas.openxmlformats.org/officeDocument/2006/relationships/notesSlide" Target="/ppt/notesSlides/notesSlide8.xml" Id="R47fc542125de41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b63154899c4e50" /><Relationship Type="http://schemas.openxmlformats.org/officeDocument/2006/relationships/notesSlide" Target="/ppt/notesSlides/notesSlide9.xml" Id="R8fbaf026040a40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b77ae6719634c48" /><Relationship Type="http://schemas.openxmlformats.org/officeDocument/2006/relationships/notesSlide" Target="/ppt/notesSlides/notesSlide10.xml" Id="Rb2a343919daa4c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f9112ac66c84966" /><Relationship Type="http://schemas.openxmlformats.org/officeDocument/2006/relationships/notesSlide" Target="/ppt/notesSlides/notesSlide11.xml" Id="R4428d9bdd0d943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b337ac23884abf" /><Relationship Type="http://schemas.openxmlformats.org/officeDocument/2006/relationships/notesSlide" Target="/ppt/notesSlides/notesSlide12.xml" Id="R426493e0b6a341f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1B9EE87-3D38-4FB8-93E4-2D99E33EAF51}"/>
              </a:ext>
            </a:extLst>
          </p:cNvPr>
          <p:cNvSpPr>
            <a:spLocks xmlns:a="http://schemas.openxmlformats.org/drawingml/2006/main" noGrp="1"/>
          </p:cNvSpPr>
          <p:nvPr/>
        </p:nvSpPr>
        <p:spPr>
          <a:xfrm xmlns:a="http://schemas.openxmlformats.org/drawingml/2006/main">
            <a:off x="0" y="0"/>
            <a:ext cx="5905500" cy="6858000"/>
          </a:xfrm>
          <a:prstGeom xmlns:a="http://schemas.openxmlformats.org/drawingml/2006/main" prst="rect">
            <a:avLst/>
          </a:prstGeom>
          <a:solidFill xmlns:a="http://schemas.openxmlformats.org/drawingml/2006/main">
            <a:srgbClr val="15171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EE4D9F-6AF8-48FC-82DE-428A635CEE8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2327"/>
          </a:solidFill>
          <a:ln xmlns:a="http://schemas.openxmlformats.org/drawingml/2006/main" w="0">
            <a:no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764014b34e24597"/>
          <a:srcRect xmlns:a="http://schemas.openxmlformats.org/drawingml/2006/main" l="27239" t="0" r="27239" b="0"/>
          <a:stretch xmlns:a="http://schemas.openxmlformats.org/drawingml/2006/main">
            <a:fillRect l="0" t="0" r="0" b="0"/>
          </a:stretch>
        </p:blipFill>
        <p:spPr>
          <a:xfrm xmlns:a="http://schemas.openxmlformats.org/drawingml/2006/main">
            <a:off x="5905500" y="0"/>
            <a:ext cx="62865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3498854-0D6F-404B-AE99-B95214C8A44C}"/>
              </a:ext>
            </a:extLst>
          </p:cNvPr>
          <p:cNvSpPr>
            <a:spLocks xmlns:a="http://schemas.openxmlformats.org/drawingml/2006/main" noGrp="1"/>
          </p:cNvSpPr>
          <p:nvPr/>
        </p:nvSpPr>
        <p:spPr>
          <a:xfrm xmlns:a="http://schemas.openxmlformats.org/drawingml/2006/main">
            <a:off x="5905500" y="0"/>
            <a:ext cx="123825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9CDE1E5-0AB2-4976-A07E-9A953E227D7B}"/>
              </a:ext>
            </a:extLst>
          </p:cNvPr>
          <p:cNvSpPr>
            <a:spLocks xmlns:a="http://schemas.openxmlformats.org/drawingml/2006/main" noGrp="1"/>
          </p:cNvSpPr>
          <p:nvPr/>
        </p:nvSpPr>
        <p:spPr>
          <a:xfrm xmlns:a="http://schemas.openxmlformats.org/drawingml/2006/main">
            <a:off x="666750" y="72390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F2327"/>
                </a:solidFill>
                <a:latin typeface="Segoe UI"/>
                <a:ea typeface="Segoe UI"/>
                <a:cs typeface="Segoe UI"/>
              </a:defRPr>
            </a:pPr>
            <a:r>
              <a:rPr sz="1500" b="1">
                <a:solidFill>
                  <a:srgbClr val="FF2327"/>
                </a:solidFill>
                <a:latin typeface="Segoe UI"/>
                <a:ea typeface="Segoe UI"/>
                <a:cs typeface="Segoe UI"/>
              </a:rPr>
              <a:t>SSC PORTAL</a:t>
            </a:r>
          </a:p>
        </p:txBody>
      </p:sp>
      <p:sp>
        <p:nvSpPr>
          <p:cNvPr id="6" name="">
            <a:extLst xmlns:a="http://schemas.openxmlformats.org/drawingml/2006/main">
              <a:ext uri="{FF2B5EF4-FFF2-40B4-BE49-F238E27FC236}">
                <a16:creationId xmlns:a16="http://schemas.microsoft.com/office/drawing/2014/main" id="{4390F38F-F801-4552-9744-860D8C88A5ED}"/>
              </a:ext>
            </a:extLst>
          </p:cNvPr>
          <p:cNvSpPr>
            <a:spLocks xmlns:a="http://schemas.openxmlformats.org/drawingml/2006/main" noGrp="1"/>
          </p:cNvSpPr>
          <p:nvPr/>
        </p:nvSpPr>
        <p:spPr>
          <a:xfrm xmlns:a="http://schemas.openxmlformats.org/drawingml/2006/main">
            <a:off x="647700" y="1504950"/>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A clearer path</a:t>
            </a:r>
          </a:p>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from proposal</a:t>
            </a:r>
          </a:p>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to approval</a:t>
            </a:r>
          </a:p>
        </p:txBody>
      </p:sp>
      <p:sp>
        <p:nvSpPr>
          <p:cNvPr id="7" name="">
            <a:extLst xmlns:a="http://schemas.openxmlformats.org/drawingml/2006/main">
              <a:ext uri="{FF2B5EF4-FFF2-40B4-BE49-F238E27FC236}">
                <a16:creationId xmlns:a16="http://schemas.microsoft.com/office/drawing/2014/main" id="{798590E2-66CE-4E7F-8501-1B9EB70E4991}"/>
              </a:ext>
            </a:extLst>
          </p:cNvPr>
          <p:cNvSpPr>
            <a:spLocks xmlns:a="http://schemas.openxmlformats.org/drawingml/2006/main" noGrp="1"/>
          </p:cNvSpPr>
          <p:nvPr/>
        </p:nvSpPr>
        <p:spPr>
          <a:xfrm xmlns:a="http://schemas.openxmlformats.org/drawingml/2006/main">
            <a:off x="666750" y="44767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D4D8DE"/>
                </a:solidFill>
                <a:latin typeface="Segoe UI"/>
                <a:ea typeface="Segoe UI"/>
                <a:cs typeface="Segoe UI"/>
              </a:defRPr>
            </a:pPr>
            <a:r>
              <a:rPr sz="1800" b="0">
                <a:solidFill>
                  <a:srgbClr val="D4D8DE"/>
                </a:solidFill>
                <a:latin typeface="Segoe UI"/>
                <a:ea typeface="Segoe UI"/>
                <a:cs typeface="Segoe UI"/>
              </a:rPr>
              <a:t>Stakeholder presentation</a:t>
            </a:r>
          </a:p>
        </p:txBody>
      </p:sp>
      <p:sp>
        <p:nvSpPr>
          <p:cNvPr id="8" name="">
            <a:extLst xmlns:a="http://schemas.openxmlformats.org/drawingml/2006/main">
              <a:ext uri="{FF2B5EF4-FFF2-40B4-BE49-F238E27FC236}">
                <a16:creationId xmlns:a16="http://schemas.microsoft.com/office/drawing/2014/main" id="{5EE0D81C-91B6-4910-A9DA-E4D4965D1106}"/>
              </a:ext>
            </a:extLst>
          </p:cNvPr>
          <p:cNvSpPr>
            <a:spLocks xmlns:a="http://schemas.openxmlformats.org/drawingml/2006/main" noGrp="1"/>
          </p:cNvSpPr>
          <p:nvPr/>
        </p:nvSpPr>
        <p:spPr>
          <a:xfrm xmlns:a="http://schemas.openxmlformats.org/drawingml/2006/main">
            <a:off x="666750" y="49530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AEB5BF"/>
                </a:solidFill>
                <a:latin typeface="Segoe UI"/>
                <a:ea typeface="Segoe UI"/>
                <a:cs typeface="Segoe UI"/>
              </a:defRPr>
            </a:pPr>
            <a:r>
              <a:rPr sz="1500" b="0">
                <a:solidFill>
                  <a:srgbClr val="AEB5BF"/>
                </a:solidFill>
                <a:latin typeface="Segoe UI"/>
                <a:ea typeface="Segoe UI"/>
                <a:cs typeface="Segoe UI"/>
              </a:rPr>
              <a:t>Cor Jesu College Student Services Center</a:t>
            </a:r>
          </a:p>
        </p:txBody>
      </p:sp>
    </p:spTree>
    <p:extLst>
      <p:ext uri="{BB962C8B-B14F-4D97-AF65-F5344CB8AC3E}">
        <p14:creationId xmlns:p14="http://schemas.microsoft.com/office/powerpoint/2010/main" val="21157612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1D4E533-AC0D-40F2-8589-F649E3771F9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EEF9AD-E590-47E4-B27A-6B07B42F3EEF}"/>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work starts before the event</a:t>
            </a:r>
          </a:p>
        </p:txBody>
      </p:sp>
      <p:sp>
        <p:nvSpPr>
          <p:cNvPr id="3" name="">
            <a:extLst xmlns:a="http://schemas.openxmlformats.org/drawingml/2006/main">
              <a:ext uri="{FF2B5EF4-FFF2-40B4-BE49-F238E27FC236}">
                <a16:creationId xmlns:a16="http://schemas.microsoft.com/office/drawing/2014/main" id="{0D698F75-4D40-41B9-8BAD-817B97288EA9}"/>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One proposal carries several kinds of information through several people</a:t>
            </a:r>
          </a:p>
        </p:txBody>
      </p:sp>
      <p:sp>
        <p:nvSpPr>
          <p:cNvPr id="4" name="">
            <a:extLst xmlns:a="http://schemas.openxmlformats.org/drawingml/2006/main">
              <a:ext uri="{FF2B5EF4-FFF2-40B4-BE49-F238E27FC236}">
                <a16:creationId xmlns:a16="http://schemas.microsoft.com/office/drawing/2014/main" id="{68A3E2D7-848C-4635-B83A-61CA07FDD5AF}"/>
              </a:ext>
            </a:extLst>
          </p:cNvPr>
          <p:cNvSpPr>
            <a:spLocks xmlns:a="http://schemas.openxmlformats.org/drawingml/2006/main" noGrp="1"/>
          </p:cNvSpPr>
          <p:nvPr/>
        </p:nvSpPr>
        <p:spPr>
          <a:xfrm xmlns:a="http://schemas.openxmlformats.org/drawingml/2006/main">
            <a:off x="723900" y="2266950"/>
            <a:ext cx="2095500" cy="1485900"/>
          </a:xfrm>
          <a:prstGeom xmlns:a="http://schemas.openxmlformats.org/drawingml/2006/main" prst="roundRect">
            <a:avLst>
              <a:gd name="adj" fmla="val 11538"/>
            </a:avLst>
          </a:prstGeom>
          <a:solidFill xmlns:a="http://schemas.openxmlformats.org/drawingml/2006/main">
            <a:srgbClr val="FF2327"/>
          </a:solidFill>
          <a:ln xmlns:a="http://schemas.openxmlformats.org/drawingml/2006/main" w="9525">
            <a:solidFill>
              <a:srgbClr val="FF2327"/>
            </a:solidFill>
          </a:ln>
        </p:spPr>
      </p:sp>
      <p:sp>
        <p:nvSpPr>
          <p:cNvPr id="5" name="">
            <a:extLst xmlns:a="http://schemas.openxmlformats.org/drawingml/2006/main">
              <a:ext uri="{FF2B5EF4-FFF2-40B4-BE49-F238E27FC236}">
                <a16:creationId xmlns:a16="http://schemas.microsoft.com/office/drawing/2014/main" id="{3D743518-8475-4310-9616-F460D4584735}"/>
              </a:ext>
            </a:extLst>
          </p:cNvPr>
          <p:cNvSpPr>
            <a:spLocks xmlns:a="http://schemas.openxmlformats.org/drawingml/2006/main" noGrp="1"/>
          </p:cNvSpPr>
          <p:nvPr/>
        </p:nvSpPr>
        <p:spPr>
          <a:xfrm xmlns:a="http://schemas.openxmlformats.org/drawingml/2006/main">
            <a:off x="9144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Segoe UI"/>
                <a:ea typeface="Segoe UI"/>
                <a:cs typeface="Segoe UI"/>
              </a:defRPr>
            </a:pPr>
            <a:r>
              <a:rPr sz="1275" b="1">
                <a:solidFill>
                  <a:srgbClr val="FFFFFF"/>
                </a:solidFill>
                <a:latin typeface="Segoe UI"/>
                <a:ea typeface="Segoe UI"/>
                <a:cs typeface="Segoe UI"/>
              </a:rPr>
              <a:t>EVENT DETAILS</a:t>
            </a:r>
          </a:p>
        </p:txBody>
      </p:sp>
      <p:sp>
        <p:nvSpPr>
          <p:cNvPr id="6" name="">
            <a:extLst xmlns:a="http://schemas.openxmlformats.org/drawingml/2006/main">
              <a:ext uri="{FF2B5EF4-FFF2-40B4-BE49-F238E27FC236}">
                <a16:creationId xmlns:a16="http://schemas.microsoft.com/office/drawing/2014/main" id="{6822D6F1-FBA0-4643-9E25-602CC4B1D50B}"/>
              </a:ext>
            </a:extLst>
          </p:cNvPr>
          <p:cNvSpPr>
            <a:spLocks xmlns:a="http://schemas.openxmlformats.org/drawingml/2006/main" noGrp="1"/>
          </p:cNvSpPr>
          <p:nvPr/>
        </p:nvSpPr>
        <p:spPr>
          <a:xfrm xmlns:a="http://schemas.openxmlformats.org/drawingml/2006/main">
            <a:off x="9144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What is happening?</a:t>
            </a:r>
          </a:p>
        </p:txBody>
      </p:sp>
      <p:sp>
        <p:nvSpPr>
          <p:cNvPr id="7" name="">
            <a:extLst xmlns:a="http://schemas.openxmlformats.org/drawingml/2006/main">
              <a:ext uri="{FF2B5EF4-FFF2-40B4-BE49-F238E27FC236}">
                <a16:creationId xmlns:a16="http://schemas.microsoft.com/office/drawing/2014/main" id="{C6FB7631-D2BC-47E2-A90E-96B4BFBD7C24}"/>
              </a:ext>
            </a:extLst>
          </p:cNvPr>
          <p:cNvSpPr>
            <a:spLocks xmlns:a="http://schemas.openxmlformats.org/drawingml/2006/main" noGrp="1"/>
          </p:cNvSpPr>
          <p:nvPr/>
        </p:nvSpPr>
        <p:spPr>
          <a:xfrm xmlns:a="http://schemas.openxmlformats.org/drawingml/2006/main">
            <a:off x="35433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8" name="">
            <a:extLst xmlns:a="http://schemas.openxmlformats.org/drawingml/2006/main">
              <a:ext uri="{FF2B5EF4-FFF2-40B4-BE49-F238E27FC236}">
                <a16:creationId xmlns:a16="http://schemas.microsoft.com/office/drawing/2014/main" id="{21AEABC3-B7BF-4BBB-AC31-4E3917A9BCE9}"/>
              </a:ext>
            </a:extLst>
          </p:cNvPr>
          <p:cNvSpPr>
            <a:spLocks xmlns:a="http://schemas.openxmlformats.org/drawingml/2006/main" noGrp="1"/>
          </p:cNvSpPr>
          <p:nvPr/>
        </p:nvSpPr>
        <p:spPr>
          <a:xfrm xmlns:a="http://schemas.openxmlformats.org/drawingml/2006/main">
            <a:off x="37338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REQUIRED FILES</a:t>
            </a:r>
          </a:p>
        </p:txBody>
      </p:sp>
      <p:sp>
        <p:nvSpPr>
          <p:cNvPr id="9" name="">
            <a:extLst xmlns:a="http://schemas.openxmlformats.org/drawingml/2006/main">
              <a:ext uri="{FF2B5EF4-FFF2-40B4-BE49-F238E27FC236}">
                <a16:creationId xmlns:a16="http://schemas.microsoft.com/office/drawing/2014/main" id="{45818DA2-E157-4964-9E94-9925E8CA537E}"/>
              </a:ext>
            </a:extLst>
          </p:cNvPr>
          <p:cNvSpPr>
            <a:spLocks xmlns:a="http://schemas.openxmlformats.org/drawingml/2006/main" noGrp="1"/>
          </p:cNvSpPr>
          <p:nvPr/>
        </p:nvSpPr>
        <p:spPr>
          <a:xfrm xmlns:a="http://schemas.openxmlformats.org/drawingml/2006/main">
            <a:off x="37338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What must be submitted?</a:t>
            </a:r>
          </a:p>
        </p:txBody>
      </p:sp>
      <p:sp>
        <p:nvSpPr>
          <p:cNvPr id="10" name="">
            <a:extLst xmlns:a="http://schemas.openxmlformats.org/drawingml/2006/main">
              <a:ext uri="{FF2B5EF4-FFF2-40B4-BE49-F238E27FC236}">
                <a16:creationId xmlns:a16="http://schemas.microsoft.com/office/drawing/2014/main" id="{827575C3-BE03-409E-97E9-A037C79BC7C3}"/>
              </a:ext>
            </a:extLst>
          </p:cNvPr>
          <p:cNvSpPr>
            <a:spLocks xmlns:a="http://schemas.openxmlformats.org/drawingml/2006/main" noGrp="1"/>
          </p:cNvSpPr>
          <p:nvPr/>
        </p:nvSpPr>
        <p:spPr>
          <a:xfrm xmlns:a="http://schemas.openxmlformats.org/drawingml/2006/main">
            <a:off x="63627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11" name="">
            <a:extLst xmlns:a="http://schemas.openxmlformats.org/drawingml/2006/main">
              <a:ext uri="{FF2B5EF4-FFF2-40B4-BE49-F238E27FC236}">
                <a16:creationId xmlns:a16="http://schemas.microsoft.com/office/drawing/2014/main" id="{6ACD15BF-E496-4AF8-BB2F-8D374515F280}"/>
              </a:ext>
            </a:extLst>
          </p:cNvPr>
          <p:cNvSpPr>
            <a:spLocks xmlns:a="http://schemas.openxmlformats.org/drawingml/2006/main" noGrp="1"/>
          </p:cNvSpPr>
          <p:nvPr/>
        </p:nvSpPr>
        <p:spPr>
          <a:xfrm xmlns:a="http://schemas.openxmlformats.org/drawingml/2006/main">
            <a:off x="65532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REVIEW</a:t>
            </a:r>
          </a:p>
        </p:txBody>
      </p:sp>
      <p:sp>
        <p:nvSpPr>
          <p:cNvPr id="12" name="">
            <a:extLst xmlns:a="http://schemas.openxmlformats.org/drawingml/2006/main">
              <a:ext uri="{FF2B5EF4-FFF2-40B4-BE49-F238E27FC236}">
                <a16:creationId xmlns:a16="http://schemas.microsoft.com/office/drawing/2014/main" id="{A8AEDEDC-9484-4A09-8E9A-E5EC1751A5FD}"/>
              </a:ext>
            </a:extLst>
          </p:cNvPr>
          <p:cNvSpPr>
            <a:spLocks xmlns:a="http://schemas.openxmlformats.org/drawingml/2006/main" noGrp="1"/>
          </p:cNvSpPr>
          <p:nvPr/>
        </p:nvSpPr>
        <p:spPr>
          <a:xfrm xmlns:a="http://schemas.openxmlformats.org/drawingml/2006/main">
            <a:off x="65532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Who needs to act?</a:t>
            </a:r>
          </a:p>
        </p:txBody>
      </p:sp>
      <p:sp>
        <p:nvSpPr>
          <p:cNvPr id="13" name="">
            <a:extLst xmlns:a="http://schemas.openxmlformats.org/drawingml/2006/main">
              <a:ext uri="{FF2B5EF4-FFF2-40B4-BE49-F238E27FC236}">
                <a16:creationId xmlns:a16="http://schemas.microsoft.com/office/drawing/2014/main" id="{F011EF04-442B-47C0-B720-10067C859140}"/>
              </a:ext>
            </a:extLst>
          </p:cNvPr>
          <p:cNvSpPr>
            <a:spLocks xmlns:a="http://schemas.openxmlformats.org/drawingml/2006/main" noGrp="1"/>
          </p:cNvSpPr>
          <p:nvPr/>
        </p:nvSpPr>
        <p:spPr>
          <a:xfrm xmlns:a="http://schemas.openxmlformats.org/drawingml/2006/main">
            <a:off x="91821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14" name="">
            <a:extLst xmlns:a="http://schemas.openxmlformats.org/drawingml/2006/main">
              <a:ext uri="{FF2B5EF4-FFF2-40B4-BE49-F238E27FC236}">
                <a16:creationId xmlns:a16="http://schemas.microsoft.com/office/drawing/2014/main" id="{E71FDEEC-5E77-4B97-8172-150C91FCDFF8}"/>
              </a:ext>
            </a:extLst>
          </p:cNvPr>
          <p:cNvSpPr>
            <a:spLocks xmlns:a="http://schemas.openxmlformats.org/drawingml/2006/main" noGrp="1"/>
          </p:cNvSpPr>
          <p:nvPr/>
        </p:nvSpPr>
        <p:spPr>
          <a:xfrm xmlns:a="http://schemas.openxmlformats.org/drawingml/2006/main">
            <a:off x="93726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STATUS</a:t>
            </a:r>
          </a:p>
        </p:txBody>
      </p:sp>
      <p:sp>
        <p:nvSpPr>
          <p:cNvPr id="15" name="">
            <a:extLst xmlns:a="http://schemas.openxmlformats.org/drawingml/2006/main">
              <a:ext uri="{FF2B5EF4-FFF2-40B4-BE49-F238E27FC236}">
                <a16:creationId xmlns:a16="http://schemas.microsoft.com/office/drawing/2014/main" id="{813658CE-0618-4C78-B2A1-03F1681D2AC9}"/>
              </a:ext>
            </a:extLst>
          </p:cNvPr>
          <p:cNvSpPr>
            <a:spLocks xmlns:a="http://schemas.openxmlformats.org/drawingml/2006/main" noGrp="1"/>
          </p:cNvSpPr>
          <p:nvPr/>
        </p:nvSpPr>
        <p:spPr>
          <a:xfrm xmlns:a="http://schemas.openxmlformats.org/drawingml/2006/main">
            <a:off x="93726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What happens next?</a:t>
            </a:r>
          </a:p>
        </p:txBody>
      </p:sp>
      <p:cxnSp>
        <p:nvCxnSpPr>
          <p:cNvPr id="37" name=""/>
          <p:cNvCxnSpPr>
            <a:stCxn xmlns:a="http://schemas.openxmlformats.org/drawingml/2006/main" id="4" idx="3"/>
            <a:endCxn xmlns:a="http://schemas.openxmlformats.org/drawingml/2006/main" id="7" idx="1"/>
          </p:cNvCxnSpPr>
          <p:nvPr/>
        </p:nvCxnSpPr>
        <p:spPr>
          <a:xfrm xmlns:a="http://schemas.openxmlformats.org/drawingml/2006/main">
            <a:off x="28194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8" name=""/>
          <p:cNvCxnSpPr>
            <a:stCxn xmlns:a="http://schemas.openxmlformats.org/drawingml/2006/main" id="7" idx="3"/>
            <a:endCxn xmlns:a="http://schemas.openxmlformats.org/drawingml/2006/main" id="10" idx="1"/>
          </p:cNvCxnSpPr>
          <p:nvPr/>
        </p:nvCxnSpPr>
        <p:spPr>
          <a:xfrm xmlns:a="http://schemas.openxmlformats.org/drawingml/2006/main">
            <a:off x="56388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9" name=""/>
          <p:cNvCxnSpPr>
            <a:stCxn xmlns:a="http://schemas.openxmlformats.org/drawingml/2006/main" id="10" idx="3"/>
            <a:endCxn xmlns:a="http://schemas.openxmlformats.org/drawingml/2006/main" id="13" idx="1"/>
          </p:cNvCxnSpPr>
          <p:nvPr/>
        </p:nvCxnSpPr>
        <p:spPr>
          <a:xfrm xmlns:a="http://schemas.openxmlformats.org/drawingml/2006/main">
            <a:off x="84582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sp>
        <p:nvSpPr>
          <p:cNvPr id="19" name="">
            <a:extLst xmlns:a="http://schemas.openxmlformats.org/drawingml/2006/main">
              <a:ext uri="{FF2B5EF4-FFF2-40B4-BE49-F238E27FC236}">
                <a16:creationId xmlns:a16="http://schemas.microsoft.com/office/drawing/2014/main" id="{E0E28D0F-6E49-457B-AAEE-9BBF22BFD751}"/>
              </a:ext>
            </a:extLst>
          </p:cNvPr>
          <p:cNvSpPr>
            <a:spLocks xmlns:a="http://schemas.openxmlformats.org/drawingml/2006/main" noGrp="1"/>
          </p:cNvSpPr>
          <p:nvPr/>
        </p:nvSpPr>
        <p:spPr>
          <a:xfrm xmlns:a="http://schemas.openxmlformats.org/drawingml/2006/main">
            <a:off x="1219200" y="4648200"/>
            <a:ext cx="9753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15171C"/>
                </a:solidFill>
                <a:latin typeface="Segoe UI"/>
                <a:ea typeface="Segoe UI"/>
                <a:cs typeface="Segoe UI"/>
              </a:defRPr>
            </a:pPr>
            <a:r>
              <a:rPr sz="2400" b="1">
                <a:solidFill>
                  <a:srgbClr val="15171C"/>
                </a:solidFill>
                <a:latin typeface="Segoe UI"/>
                <a:ea typeface="Segoe UI"/>
                <a:cs typeface="Segoe UI"/>
              </a:rPr>
              <a:t>When these pieces live in separate places, the next step becomes harder to see.</a:t>
            </a:r>
          </a:p>
        </p:txBody>
      </p:sp>
      <p:sp>
        <p:nvSpPr>
          <p:cNvPr id="20" name="">
            <a:extLst xmlns:a="http://schemas.openxmlformats.org/drawingml/2006/main">
              <a:ext uri="{FF2B5EF4-FFF2-40B4-BE49-F238E27FC236}">
                <a16:creationId xmlns:a16="http://schemas.microsoft.com/office/drawing/2014/main" id="{07950CC2-8C33-474E-A8CA-6CF5D1C0C41D}"/>
              </a:ext>
            </a:extLst>
          </p:cNvPr>
          <p:cNvSpPr>
            <a:spLocks xmlns:a="http://schemas.openxmlformats.org/drawingml/2006/main" noGrp="1"/>
          </p:cNvSpPr>
          <p:nvPr/>
        </p:nvSpPr>
        <p:spPr>
          <a:xfrm xmlns:a="http://schemas.openxmlformats.org/drawingml/2006/main">
            <a:off x="2238375" y="5353050"/>
            <a:ext cx="771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6B7280"/>
                </a:solidFill>
                <a:latin typeface="Segoe UI"/>
                <a:ea typeface="Segoe UI"/>
                <a:cs typeface="Segoe UI"/>
              </a:defRPr>
            </a:pPr>
            <a:r>
              <a:rPr sz="1650" b="0">
                <a:solidFill>
                  <a:srgbClr val="6B7280"/>
                </a:solidFill>
                <a:latin typeface="Segoe UI"/>
                <a:ea typeface="Segoe UI"/>
                <a:cs typeface="Segoe UI"/>
              </a:rPr>
              <a:t>The risk is delay, missing requirements, and repeated follow-up.</a:t>
            </a:r>
          </a:p>
        </p:txBody>
      </p:sp>
      <p:sp>
        <p:nvSpPr>
          <p:cNvPr id="21" name="">
            <a:extLst xmlns:a="http://schemas.openxmlformats.org/drawingml/2006/main">
              <a:ext uri="{FF2B5EF4-FFF2-40B4-BE49-F238E27FC236}">
                <a16:creationId xmlns:a16="http://schemas.microsoft.com/office/drawing/2014/main" id="{518B5B2D-7F94-4DF1-AF1F-2EB401BDF724}"/>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02</a:t>
            </a:r>
          </a:p>
        </p:txBody>
      </p:sp>
    </p:spTree>
    <p:extLst>
      <p:ext uri="{BB962C8B-B14F-4D97-AF65-F5344CB8AC3E}">
        <p14:creationId xmlns:p14="http://schemas.microsoft.com/office/powerpoint/2010/main" val="2012447022"/>
      </p:ext>
    </p:extLst>
  </p:cSld>
</p:sld>
</file>

<file path=ppt/slides/slide3.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7F83410-5FE9-44A3-8259-59CCE3704F6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FB9239-BA16-44E9-985B-18A179A8645E}"/>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same delay affects three roles</a:t>
            </a:r>
          </a:p>
        </p:txBody>
      </p:sp>
      <p:sp>
        <p:nvSpPr>
          <p:cNvPr id="3" name="">
            <a:extLst xmlns:a="http://schemas.openxmlformats.org/drawingml/2006/main">
              <a:ext uri="{FF2B5EF4-FFF2-40B4-BE49-F238E27FC236}">
                <a16:creationId xmlns:a16="http://schemas.microsoft.com/office/drawing/2014/main" id="{F35DB7BE-82E3-4427-B7AB-1FD081FFEEDE}"/>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Each person needs a different answer from the same proposal</a:t>
            </a:r>
          </a:p>
        </p:txBody>
      </p:sp>
      <p:sp>
        <p:nvSpPr>
          <p:cNvPr id="4" name="">
            <a:extLst xmlns:a="http://schemas.openxmlformats.org/drawingml/2006/main">
              <a:ext uri="{FF2B5EF4-FFF2-40B4-BE49-F238E27FC236}">
                <a16:creationId xmlns:a16="http://schemas.microsoft.com/office/drawing/2014/main" id="{C13AEED5-7703-4379-8F1B-C33DC4F94D57}"/>
              </a:ext>
            </a:extLst>
          </p:cNvPr>
          <p:cNvSpPr>
            <a:spLocks xmlns:a="http://schemas.openxmlformats.org/drawingml/2006/main" noGrp="1"/>
          </p:cNvSpPr>
          <p:nvPr/>
        </p:nvSpPr>
        <p:spPr>
          <a:xfrm xmlns:a="http://schemas.openxmlformats.org/drawingml/2006/main">
            <a:off x="685800" y="18097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01</a:t>
            </a:r>
          </a:p>
        </p:txBody>
      </p:sp>
      <p:sp>
        <p:nvSpPr>
          <p:cNvPr id="5" name="">
            <a:extLst xmlns:a="http://schemas.openxmlformats.org/drawingml/2006/main">
              <a:ext uri="{FF2B5EF4-FFF2-40B4-BE49-F238E27FC236}">
                <a16:creationId xmlns:a16="http://schemas.microsoft.com/office/drawing/2014/main" id="{EB30BB79-4F83-461B-88A6-4A0A08A58DAC}"/>
              </a:ext>
            </a:extLst>
          </p:cNvPr>
          <p:cNvSpPr>
            <a:spLocks xmlns:a="http://schemas.openxmlformats.org/drawingml/2006/main" noGrp="1"/>
          </p:cNvSpPr>
          <p:nvPr/>
        </p:nvSpPr>
        <p:spPr>
          <a:xfrm xmlns:a="http://schemas.openxmlformats.org/drawingml/2006/main">
            <a:off x="1666875" y="18573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STUDENT</a:t>
            </a:r>
          </a:p>
        </p:txBody>
      </p:sp>
      <p:sp>
        <p:nvSpPr>
          <p:cNvPr id="6" name="">
            <a:extLst xmlns:a="http://schemas.openxmlformats.org/drawingml/2006/main">
              <a:ext uri="{FF2B5EF4-FFF2-40B4-BE49-F238E27FC236}">
                <a16:creationId xmlns:a16="http://schemas.microsoft.com/office/drawing/2014/main" id="{205C658B-933E-4C1C-9EB1-034EF5EEAE21}"/>
              </a:ext>
            </a:extLst>
          </p:cNvPr>
          <p:cNvSpPr>
            <a:spLocks xmlns:a="http://schemas.openxmlformats.org/drawingml/2006/main" noGrp="1"/>
          </p:cNvSpPr>
          <p:nvPr/>
        </p:nvSpPr>
        <p:spPr>
          <a:xfrm xmlns:a="http://schemas.openxmlformats.org/drawingml/2006/main">
            <a:off x="4048125" y="17716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What do I need to submit, and where does my proposal stand?</a:t>
            </a:r>
          </a:p>
        </p:txBody>
      </p:sp>
      <p:sp>
        <p:nvSpPr>
          <p:cNvPr id="7" name="">
            <a:extLst xmlns:a="http://schemas.openxmlformats.org/drawingml/2006/main">
              <a:ext uri="{FF2B5EF4-FFF2-40B4-BE49-F238E27FC236}">
                <a16:creationId xmlns:a16="http://schemas.microsoft.com/office/drawing/2014/main" id="{19BB5490-C2A1-4FF0-895F-67CA951755B5}"/>
              </a:ext>
            </a:extLst>
          </p:cNvPr>
          <p:cNvSpPr>
            <a:spLocks xmlns:a="http://schemas.openxmlformats.org/drawingml/2006/main" noGrp="1"/>
          </p:cNvSpPr>
          <p:nvPr/>
        </p:nvSpPr>
        <p:spPr>
          <a:xfrm xmlns:a="http://schemas.openxmlformats.org/drawingml/2006/main">
            <a:off x="1666875" y="2676525"/>
            <a:ext cx="9620250" cy="19050"/>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881A96F-15A0-4A04-B5C5-76F23AB9B2B1}"/>
              </a:ext>
            </a:extLst>
          </p:cNvPr>
          <p:cNvSpPr>
            <a:spLocks xmlns:a="http://schemas.openxmlformats.org/drawingml/2006/main" noGrp="1"/>
          </p:cNvSpPr>
          <p:nvPr/>
        </p:nvSpPr>
        <p:spPr>
          <a:xfrm xmlns:a="http://schemas.openxmlformats.org/drawingml/2006/main">
            <a:off x="685800" y="31813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76F7946D-93EC-48A4-A7BC-28F59B6F21A9}"/>
              </a:ext>
            </a:extLst>
          </p:cNvPr>
          <p:cNvSpPr>
            <a:spLocks xmlns:a="http://schemas.openxmlformats.org/drawingml/2006/main" noGrp="1"/>
          </p:cNvSpPr>
          <p:nvPr/>
        </p:nvSpPr>
        <p:spPr>
          <a:xfrm xmlns:a="http://schemas.openxmlformats.org/drawingml/2006/main">
            <a:off x="1666875" y="32289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MODERATOR</a:t>
            </a:r>
          </a:p>
        </p:txBody>
      </p:sp>
      <p:sp>
        <p:nvSpPr>
          <p:cNvPr id="10" name="">
            <a:extLst xmlns:a="http://schemas.openxmlformats.org/drawingml/2006/main">
              <a:ext uri="{FF2B5EF4-FFF2-40B4-BE49-F238E27FC236}">
                <a16:creationId xmlns:a16="http://schemas.microsoft.com/office/drawing/2014/main" id="{C7B9DD84-A822-4E70-816C-18C446484540}"/>
              </a:ext>
            </a:extLst>
          </p:cNvPr>
          <p:cNvSpPr>
            <a:spLocks xmlns:a="http://schemas.openxmlformats.org/drawingml/2006/main" noGrp="1"/>
          </p:cNvSpPr>
          <p:nvPr/>
        </p:nvSpPr>
        <p:spPr>
          <a:xfrm xmlns:a="http://schemas.openxmlformats.org/drawingml/2006/main">
            <a:off x="4048125" y="31432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Which documents need my review, and what decision is required?</a:t>
            </a:r>
          </a:p>
        </p:txBody>
      </p:sp>
      <p:sp>
        <p:nvSpPr>
          <p:cNvPr id="11" name="">
            <a:extLst xmlns:a="http://schemas.openxmlformats.org/drawingml/2006/main">
              <a:ext uri="{FF2B5EF4-FFF2-40B4-BE49-F238E27FC236}">
                <a16:creationId xmlns:a16="http://schemas.microsoft.com/office/drawing/2014/main" id="{BC3F7FCE-3173-4264-8876-1E9854B526E4}"/>
              </a:ext>
            </a:extLst>
          </p:cNvPr>
          <p:cNvSpPr>
            <a:spLocks xmlns:a="http://schemas.openxmlformats.org/drawingml/2006/main" noGrp="1"/>
          </p:cNvSpPr>
          <p:nvPr/>
        </p:nvSpPr>
        <p:spPr>
          <a:xfrm xmlns:a="http://schemas.openxmlformats.org/drawingml/2006/main">
            <a:off x="1666875" y="4048125"/>
            <a:ext cx="9620250" cy="19050"/>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3DA075D-9F9D-49C7-8A23-53B05F781979}"/>
              </a:ext>
            </a:extLst>
          </p:cNvPr>
          <p:cNvSpPr>
            <a:spLocks xmlns:a="http://schemas.openxmlformats.org/drawingml/2006/main" noGrp="1"/>
          </p:cNvSpPr>
          <p:nvPr/>
        </p:nvSpPr>
        <p:spPr>
          <a:xfrm xmlns:a="http://schemas.openxmlformats.org/drawingml/2006/main">
            <a:off x="685800" y="45529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03</a:t>
            </a:r>
          </a:p>
        </p:txBody>
      </p:sp>
      <p:sp>
        <p:nvSpPr>
          <p:cNvPr id="13" name="">
            <a:extLst xmlns:a="http://schemas.openxmlformats.org/drawingml/2006/main">
              <a:ext uri="{FF2B5EF4-FFF2-40B4-BE49-F238E27FC236}">
                <a16:creationId xmlns:a16="http://schemas.microsoft.com/office/drawing/2014/main" id="{DFCA5679-9E1A-4DCB-A97E-8BCB8FD6BC3D}"/>
              </a:ext>
            </a:extLst>
          </p:cNvPr>
          <p:cNvSpPr>
            <a:spLocks xmlns:a="http://schemas.openxmlformats.org/drawingml/2006/main" noGrp="1"/>
          </p:cNvSpPr>
          <p:nvPr/>
        </p:nvSpPr>
        <p:spPr>
          <a:xfrm xmlns:a="http://schemas.openxmlformats.org/drawingml/2006/main">
            <a:off x="1666875" y="46005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ADMINISTRATOR</a:t>
            </a:r>
          </a:p>
        </p:txBody>
      </p:sp>
      <p:sp>
        <p:nvSpPr>
          <p:cNvPr id="14" name="">
            <a:extLst xmlns:a="http://schemas.openxmlformats.org/drawingml/2006/main">
              <a:ext uri="{FF2B5EF4-FFF2-40B4-BE49-F238E27FC236}">
                <a16:creationId xmlns:a16="http://schemas.microsoft.com/office/drawing/2014/main" id="{625A7628-E5A5-4187-83D4-44EE7B372796}"/>
              </a:ext>
            </a:extLst>
          </p:cNvPr>
          <p:cNvSpPr>
            <a:spLocks xmlns:a="http://schemas.openxmlformats.org/drawingml/2006/main" noGrp="1"/>
          </p:cNvSpPr>
          <p:nvPr/>
        </p:nvSpPr>
        <p:spPr>
          <a:xfrm xmlns:a="http://schemas.openxmlformats.org/drawingml/2006/main">
            <a:off x="4048125" y="45148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Which record is current, and where is follow-up needed?</a:t>
            </a:r>
          </a:p>
        </p:txBody>
      </p:sp>
      <p:sp>
        <p:nvSpPr>
          <p:cNvPr id="15" name="">
            <a:extLst xmlns:a="http://schemas.openxmlformats.org/drawingml/2006/main">
              <a:ext uri="{FF2B5EF4-FFF2-40B4-BE49-F238E27FC236}">
                <a16:creationId xmlns:a16="http://schemas.microsoft.com/office/drawing/2014/main" id="{586F0508-0B19-4D93-9924-B249E8F5BD1B}"/>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03</a:t>
            </a:r>
          </a:p>
        </p:txBody>
      </p:sp>
    </p:spTree>
    <p:extLst>
      <p:ext uri="{BB962C8B-B14F-4D97-AF65-F5344CB8AC3E}">
        <p14:creationId xmlns:p14="http://schemas.microsoft.com/office/powerpoint/2010/main" val="17536240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4B22B0-1DE3-4348-A260-8A75832B152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EB18D7-6F66-49D4-98A5-E31A4FC6ACE3}"/>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One shared path through the SSC Portal</a:t>
            </a:r>
          </a:p>
        </p:txBody>
      </p:sp>
      <p:sp>
        <p:nvSpPr>
          <p:cNvPr id="3" name="">
            <a:extLst xmlns:a="http://schemas.openxmlformats.org/drawingml/2006/main">
              <a:ext uri="{FF2B5EF4-FFF2-40B4-BE49-F238E27FC236}">
                <a16:creationId xmlns:a16="http://schemas.microsoft.com/office/drawing/2014/main" id="{E35FC0E8-ABF4-4925-A619-E6C235FFC5CB}"/>
              </a:ext>
            </a:extLst>
          </p:cNvPr>
          <p:cNvSpPr>
            <a:spLocks xmlns:a="http://schemas.openxmlformats.org/drawingml/2006/main" noGrp="1"/>
          </p:cNvSpPr>
          <p:nvPr/>
        </p:nvSpPr>
        <p:spPr>
          <a:xfrm xmlns:a="http://schemas.openxmlformats.org/drawingml/2006/main">
            <a:off x="628650" y="15430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5171C"/>
                </a:solidFill>
                <a:latin typeface="Segoe UI"/>
                <a:ea typeface="Segoe UI"/>
                <a:cs typeface="Segoe UI"/>
              </a:defRPr>
            </a:pPr>
            <a:r>
              <a:rPr sz="2775" b="1">
                <a:solidFill>
                  <a:srgbClr val="15171C"/>
                </a:solidFill>
                <a:latin typeface="Segoe UI"/>
                <a:ea typeface="Segoe UI"/>
                <a:cs typeface="Segoe UI"/>
              </a:rPr>
              <a:t>The portal turns each proposal into a visible journey.</a:t>
            </a:r>
          </a:p>
        </p:txBody>
      </p:sp>
      <p:sp>
        <p:nvSpPr>
          <p:cNvPr id="4" name="">
            <a:extLst xmlns:a="http://schemas.openxmlformats.org/drawingml/2006/main">
              <a:ext uri="{FF2B5EF4-FFF2-40B4-BE49-F238E27FC236}">
                <a16:creationId xmlns:a16="http://schemas.microsoft.com/office/drawing/2014/main" id="{3D9CD360-4C3E-4BE9-807C-1A9B24F6DBE3}"/>
              </a:ext>
            </a:extLst>
          </p:cNvPr>
          <p:cNvSpPr>
            <a:spLocks xmlns:a="http://schemas.openxmlformats.org/drawingml/2006/main" noGrp="1"/>
          </p:cNvSpPr>
          <p:nvPr/>
        </p:nvSpPr>
        <p:spPr>
          <a:xfrm xmlns:a="http://schemas.openxmlformats.org/drawingml/2006/main">
            <a:off x="628650" y="2724150"/>
            <a:ext cx="647700" cy="571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AF70A3F-9286-4782-B798-D208409395E7}"/>
              </a:ext>
            </a:extLst>
          </p:cNvPr>
          <p:cNvSpPr>
            <a:spLocks xmlns:a="http://schemas.openxmlformats.org/drawingml/2006/main" noGrp="1"/>
          </p:cNvSpPr>
          <p:nvPr/>
        </p:nvSpPr>
        <p:spPr>
          <a:xfrm xmlns:a="http://schemas.openxmlformats.org/drawingml/2006/main">
            <a:off x="628650" y="3086100"/>
            <a:ext cx="4238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Students see their next action.</a:t>
            </a:r>
          </a:p>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Staff see work waiting for review.</a:t>
            </a:r>
          </a:p>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Administrators see the whole process.</a:t>
            </a:r>
          </a:p>
        </p:txBody>
      </p:sp>
      <p:sp>
        <p:nvSpPr>
          <p:cNvPr id="6" name="">
            <a:extLst xmlns:a="http://schemas.openxmlformats.org/drawingml/2006/main">
              <a:ext uri="{FF2B5EF4-FFF2-40B4-BE49-F238E27FC236}">
                <a16:creationId xmlns:a16="http://schemas.microsoft.com/office/drawing/2014/main" id="{19495A14-2C04-424D-9CA4-6D901E3EB7FD}"/>
              </a:ext>
            </a:extLst>
          </p:cNvPr>
          <p:cNvSpPr>
            <a:spLocks xmlns:a="http://schemas.openxmlformats.org/drawingml/2006/main" noGrp="1"/>
          </p:cNvSpPr>
          <p:nvPr/>
        </p:nvSpPr>
        <p:spPr>
          <a:xfrm xmlns:a="http://schemas.openxmlformats.org/drawingml/2006/main">
            <a:off x="628650" y="509587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2327"/>
                </a:solidFill>
                <a:latin typeface="Segoe UI"/>
                <a:ea typeface="Segoe UI"/>
                <a:cs typeface="Segoe UI"/>
              </a:defRPr>
            </a:pPr>
            <a:r>
              <a:rPr sz="1650" b="1">
                <a:solidFill>
                  <a:srgbClr val="FF2327"/>
                </a:solidFill>
                <a:latin typeface="Segoe UI"/>
                <a:ea typeface="Segoe UI"/>
                <a:cs typeface="Segoe UI"/>
              </a:rPr>
              <a:t>One account. One current status.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0a2d6637d084ee2"/>
          <a:srcRect xmlns:a="http://schemas.openxmlformats.org/drawingml/2006/main" l="12286" t="0" r="12286" b="0"/>
          <a:stretch xmlns:a="http://schemas.openxmlformats.org/drawingml/2006/main">
            <a:fillRect l="0" t="0" r="0" b="0"/>
          </a:stretch>
        </p:blipFill>
        <p:spPr>
          <a:xfrm xmlns:a="http://schemas.openxmlformats.org/drawingml/2006/main">
            <a:off x="5286375" y="1409700"/>
            <a:ext cx="6286500" cy="4143375"/>
          </a:xfrm>
          <a:prstGeom xmlns:a="http://schemas.openxmlformats.org/drawingml/2006/main" prst="roundRect">
            <a:avLst>
              <a:gd name="adj" fmla="val 4138"/>
            </a:avLst>
          </a:prstGeom>
        </p:spPr>
      </p:pic>
      <p:sp>
        <p:nvSpPr>
          <p:cNvPr id="8" name="">
            <a:extLst xmlns:a="http://schemas.openxmlformats.org/drawingml/2006/main">
              <a:ext uri="{FF2B5EF4-FFF2-40B4-BE49-F238E27FC236}">
                <a16:creationId xmlns:a16="http://schemas.microsoft.com/office/drawing/2014/main" id="{10EBBE77-FA12-4860-B692-7065BBD24404}"/>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04</a:t>
            </a:r>
          </a:p>
        </p:txBody>
      </p:sp>
    </p:spTree>
    <p:extLst>
      <p:ext uri="{BB962C8B-B14F-4D97-AF65-F5344CB8AC3E}">
        <p14:creationId xmlns:p14="http://schemas.microsoft.com/office/powerpoint/2010/main" val="1835220963"/>
      </p:ext>
    </p:extLst>
  </p:cSld>
</p:sld>
</file>

<file path=ppt/slides/slide5.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C4CEC98-DDFB-4BB6-90A4-E7A5A95F864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D50542-3DE1-40B1-999F-469E6F9EDE16}"/>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Jeferson prepares a General Assembly</a:t>
            </a:r>
          </a:p>
        </p:txBody>
      </p:sp>
      <p:sp>
        <p:nvSpPr>
          <p:cNvPr id="3" name="">
            <a:extLst xmlns:a="http://schemas.openxmlformats.org/drawingml/2006/main">
              <a:ext uri="{FF2B5EF4-FFF2-40B4-BE49-F238E27FC236}">
                <a16:creationId xmlns:a16="http://schemas.microsoft.com/office/drawing/2014/main" id="{FA75A11E-2EE0-4977-8DC3-BB640780B500}"/>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proposal becomes a complete, readable record before submission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314f963d6914a62"/>
          <a:stretch xmlns:a="http://schemas.openxmlformats.org/drawingml/2006/main"/>
        </p:blipFill>
        <p:spPr>
          <a:xfrm xmlns:a="http://schemas.openxmlformats.org/drawingml/2006/main">
            <a:off x="6402793" y="1314450"/>
            <a:ext cx="4425139" cy="4914900"/>
          </a:xfrm>
          <a:prstGeom xmlns:a="http://schemas.openxmlformats.org/drawingml/2006/main" prst="roundRect">
            <a:avLst>
              <a:gd name="adj" fmla="val 3488"/>
            </a:avLst>
          </a:prstGeom>
        </p:spPr>
      </p:pic>
      <p:sp>
        <p:nvSpPr>
          <p:cNvPr id="5" name="">
            <a:extLst xmlns:a="http://schemas.openxmlformats.org/drawingml/2006/main">
              <a:ext uri="{FF2B5EF4-FFF2-40B4-BE49-F238E27FC236}">
                <a16:creationId xmlns:a16="http://schemas.microsoft.com/office/drawing/2014/main" id="{544E4369-F435-4F97-AA64-CB682FBCA7C4}"/>
              </a:ext>
            </a:extLst>
          </p:cNvPr>
          <p:cNvSpPr>
            <a:spLocks xmlns:a="http://schemas.openxmlformats.org/drawingml/2006/main" noGrp="1"/>
          </p:cNvSpPr>
          <p:nvPr/>
        </p:nvSpPr>
        <p:spPr>
          <a:xfrm xmlns:a="http://schemas.openxmlformats.org/drawingml/2006/main">
            <a:off x="685800" y="166687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01</a:t>
            </a:r>
          </a:p>
        </p:txBody>
      </p:sp>
      <p:sp>
        <p:nvSpPr>
          <p:cNvPr id="6" name="">
            <a:extLst xmlns:a="http://schemas.openxmlformats.org/drawingml/2006/main">
              <a:ext uri="{FF2B5EF4-FFF2-40B4-BE49-F238E27FC236}">
                <a16:creationId xmlns:a16="http://schemas.microsoft.com/office/drawing/2014/main" id="{206805AC-6280-4818-B828-C0CD9779FE21}"/>
              </a:ext>
            </a:extLst>
          </p:cNvPr>
          <p:cNvSpPr>
            <a:spLocks xmlns:a="http://schemas.openxmlformats.org/drawingml/2006/main" noGrp="1"/>
          </p:cNvSpPr>
          <p:nvPr/>
        </p:nvSpPr>
        <p:spPr>
          <a:xfrm xmlns:a="http://schemas.openxmlformats.org/drawingml/2006/main">
            <a:off x="1362075" y="16478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Event context</a:t>
            </a:r>
          </a:p>
        </p:txBody>
      </p:sp>
      <p:sp>
        <p:nvSpPr>
          <p:cNvPr id="7" name="">
            <a:extLst xmlns:a="http://schemas.openxmlformats.org/drawingml/2006/main">
              <a:ext uri="{FF2B5EF4-FFF2-40B4-BE49-F238E27FC236}">
                <a16:creationId xmlns:a16="http://schemas.microsoft.com/office/drawing/2014/main" id="{52DC48A0-DD6D-4A0A-B705-BE678BAF544E}"/>
              </a:ext>
            </a:extLst>
          </p:cNvPr>
          <p:cNvSpPr>
            <a:spLocks xmlns:a="http://schemas.openxmlformats.org/drawingml/2006/main" noGrp="1"/>
          </p:cNvSpPr>
          <p:nvPr/>
        </p:nvSpPr>
        <p:spPr>
          <a:xfrm xmlns:a="http://schemas.openxmlformats.org/drawingml/2006/main">
            <a:off x="1362075" y="207645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Category, department, type, date, venue, and expected participants</a:t>
            </a:r>
          </a:p>
        </p:txBody>
      </p:sp>
      <p:sp>
        <p:nvSpPr>
          <p:cNvPr id="8" name="">
            <a:extLst xmlns:a="http://schemas.openxmlformats.org/drawingml/2006/main">
              <a:ext uri="{FF2B5EF4-FFF2-40B4-BE49-F238E27FC236}">
                <a16:creationId xmlns:a16="http://schemas.microsoft.com/office/drawing/2014/main" id="{D6A19880-FCF1-4190-97B5-EE70B08903B6}"/>
              </a:ext>
            </a:extLst>
          </p:cNvPr>
          <p:cNvSpPr>
            <a:spLocks xmlns:a="http://schemas.openxmlformats.org/drawingml/2006/main" noGrp="1"/>
          </p:cNvSpPr>
          <p:nvPr/>
        </p:nvSpPr>
        <p:spPr>
          <a:xfrm xmlns:a="http://schemas.openxmlformats.org/drawingml/2006/main">
            <a:off x="685800" y="30575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57E9DA8D-AC6E-4B3A-9EA4-BCF34BE8AE39}"/>
              </a:ext>
            </a:extLst>
          </p:cNvPr>
          <p:cNvSpPr>
            <a:spLocks xmlns:a="http://schemas.openxmlformats.org/drawingml/2006/main" noGrp="1"/>
          </p:cNvSpPr>
          <p:nvPr/>
        </p:nvSpPr>
        <p:spPr>
          <a:xfrm xmlns:a="http://schemas.openxmlformats.org/drawingml/2006/main">
            <a:off x="1362075" y="303847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Responsible people</a:t>
            </a:r>
          </a:p>
        </p:txBody>
      </p:sp>
      <p:sp>
        <p:nvSpPr>
          <p:cNvPr id="10" name="">
            <a:extLst xmlns:a="http://schemas.openxmlformats.org/drawingml/2006/main">
              <a:ext uri="{FF2B5EF4-FFF2-40B4-BE49-F238E27FC236}">
                <a16:creationId xmlns:a16="http://schemas.microsoft.com/office/drawing/2014/main" id="{FFE776BC-7938-403E-B38D-0705BF8F705F}"/>
              </a:ext>
            </a:extLst>
          </p:cNvPr>
          <p:cNvSpPr>
            <a:spLocks xmlns:a="http://schemas.openxmlformats.org/drawingml/2006/main" noGrp="1"/>
          </p:cNvSpPr>
          <p:nvPr/>
        </p:nvSpPr>
        <p:spPr>
          <a:xfrm xmlns:a="http://schemas.openxmlformats.org/drawingml/2006/main">
            <a:off x="1362075" y="346710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Applicant and faculty moderator appear in the same record</a:t>
            </a:r>
          </a:p>
        </p:txBody>
      </p:sp>
      <p:sp>
        <p:nvSpPr>
          <p:cNvPr id="11" name="">
            <a:extLst xmlns:a="http://schemas.openxmlformats.org/drawingml/2006/main">
              <a:ext uri="{FF2B5EF4-FFF2-40B4-BE49-F238E27FC236}">
                <a16:creationId xmlns:a16="http://schemas.microsoft.com/office/drawing/2014/main" id="{06B004AD-7EA0-4737-8BFC-1791A8D155FF}"/>
              </a:ext>
            </a:extLst>
          </p:cNvPr>
          <p:cNvSpPr>
            <a:spLocks xmlns:a="http://schemas.openxmlformats.org/drawingml/2006/main" noGrp="1"/>
          </p:cNvSpPr>
          <p:nvPr/>
        </p:nvSpPr>
        <p:spPr>
          <a:xfrm xmlns:a="http://schemas.openxmlformats.org/drawingml/2006/main">
            <a:off x="685800" y="444817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03</a:t>
            </a:r>
          </a:p>
        </p:txBody>
      </p:sp>
      <p:sp>
        <p:nvSpPr>
          <p:cNvPr id="12" name="">
            <a:extLst xmlns:a="http://schemas.openxmlformats.org/drawingml/2006/main">
              <a:ext uri="{FF2B5EF4-FFF2-40B4-BE49-F238E27FC236}">
                <a16:creationId xmlns:a16="http://schemas.microsoft.com/office/drawing/2014/main" id="{958C2F6D-D669-434C-8F15-BA0A0ACD1DFB}"/>
              </a:ext>
            </a:extLst>
          </p:cNvPr>
          <p:cNvSpPr>
            <a:spLocks xmlns:a="http://schemas.openxmlformats.org/drawingml/2006/main" noGrp="1"/>
          </p:cNvSpPr>
          <p:nvPr/>
        </p:nvSpPr>
        <p:spPr>
          <a:xfrm xmlns:a="http://schemas.openxmlformats.org/drawingml/2006/main">
            <a:off x="1362075" y="44291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Approval path</a:t>
            </a:r>
          </a:p>
        </p:txBody>
      </p:sp>
      <p:sp>
        <p:nvSpPr>
          <p:cNvPr id="13" name="">
            <a:extLst xmlns:a="http://schemas.openxmlformats.org/drawingml/2006/main">
              <a:ext uri="{FF2B5EF4-FFF2-40B4-BE49-F238E27FC236}">
                <a16:creationId xmlns:a16="http://schemas.microsoft.com/office/drawing/2014/main" id="{05B66B4E-0CCC-4CA5-B8FA-90FBE82CC0A8}"/>
              </a:ext>
            </a:extLst>
          </p:cNvPr>
          <p:cNvSpPr>
            <a:spLocks xmlns:a="http://schemas.openxmlformats.org/drawingml/2006/main" noGrp="1"/>
          </p:cNvSpPr>
          <p:nvPr/>
        </p:nvSpPr>
        <p:spPr>
          <a:xfrm xmlns:a="http://schemas.openxmlformats.org/drawingml/2006/main">
            <a:off x="1362075" y="485775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The sign-off block makes the intended review path visible</a:t>
            </a:r>
          </a:p>
        </p:txBody>
      </p:sp>
      <p:sp>
        <p:nvSpPr>
          <p:cNvPr id="14" name="">
            <a:extLst xmlns:a="http://schemas.openxmlformats.org/drawingml/2006/main">
              <a:ext uri="{FF2B5EF4-FFF2-40B4-BE49-F238E27FC236}">
                <a16:creationId xmlns:a16="http://schemas.microsoft.com/office/drawing/2014/main" id="{EDE80AF3-A620-49AD-B406-EA966A345220}"/>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05</a:t>
            </a:r>
          </a:p>
        </p:txBody>
      </p:sp>
    </p:spTree>
    <p:extLst>
      <p:ext uri="{BB962C8B-B14F-4D97-AF65-F5344CB8AC3E}">
        <p14:creationId xmlns:p14="http://schemas.microsoft.com/office/powerpoint/2010/main" val="2842716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7A7320F-F0A4-406D-980C-B6F20806857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E648737-E65F-4BD6-963B-ABEF39CB9077}"/>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Requirements become a guided checklist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7be4a47e0d943a7"/>
          <a:stretch xmlns:a="http://schemas.openxmlformats.org/drawingml/2006/main"/>
        </p:blipFill>
        <p:spPr>
          <a:xfrm xmlns:a="http://schemas.openxmlformats.org/drawingml/2006/main">
            <a:off x="1450211" y="1314450"/>
            <a:ext cx="4557652" cy="4905375"/>
          </a:xfrm>
          <a:prstGeom xmlns:a="http://schemas.openxmlformats.org/drawingml/2006/main" prst="roundRect">
            <a:avLst>
              <a:gd name="adj" fmla="val 3495"/>
            </a:avLst>
          </a:prstGeom>
        </p:spPr>
      </p:pic>
      <p:sp>
        <p:nvSpPr>
          <p:cNvPr id="4" name="">
            <a:extLst xmlns:a="http://schemas.openxmlformats.org/drawingml/2006/main">
              <a:ext uri="{FF2B5EF4-FFF2-40B4-BE49-F238E27FC236}">
                <a16:creationId xmlns:a16="http://schemas.microsoft.com/office/drawing/2014/main" id="{B6044731-3A03-4DD2-8016-E4A8E798A6C8}"/>
              </a:ext>
            </a:extLst>
          </p:cNvPr>
          <p:cNvSpPr>
            <a:spLocks xmlns:a="http://schemas.openxmlformats.org/drawingml/2006/main" noGrp="1"/>
          </p:cNvSpPr>
          <p:nvPr/>
        </p:nvSpPr>
        <p:spPr>
          <a:xfrm xmlns:a="http://schemas.openxmlformats.org/drawingml/2006/main">
            <a:off x="7429500" y="16192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2327"/>
                </a:solidFill>
                <a:latin typeface="Segoe UI"/>
                <a:ea typeface="Segoe UI"/>
                <a:cs typeface="Segoe UI"/>
              </a:defRPr>
            </a:pPr>
            <a:r>
              <a:rPr sz="1650" b="1">
                <a:solidFill>
                  <a:srgbClr val="FF2327"/>
                </a:solidFill>
                <a:latin typeface="Segoe UI"/>
                <a:ea typeface="Segoe UI"/>
                <a:cs typeface="Segoe UI"/>
              </a:rPr>
              <a:t>The student can see</a:t>
            </a:r>
          </a:p>
        </p:txBody>
      </p:sp>
      <p:sp>
        <p:nvSpPr>
          <p:cNvPr id="5" name="">
            <a:extLst xmlns:a="http://schemas.openxmlformats.org/drawingml/2006/main">
              <a:ext uri="{FF2B5EF4-FFF2-40B4-BE49-F238E27FC236}">
                <a16:creationId xmlns:a16="http://schemas.microsoft.com/office/drawing/2014/main" id="{61F059FC-8E9D-4E7B-AE64-30662E76ACA9}"/>
              </a:ext>
            </a:extLst>
          </p:cNvPr>
          <p:cNvSpPr>
            <a:spLocks xmlns:a="http://schemas.openxmlformats.org/drawingml/2006/main" noGrp="1"/>
          </p:cNvSpPr>
          <p:nvPr/>
        </p:nvSpPr>
        <p:spPr>
          <a:xfrm xmlns:a="http://schemas.openxmlformats.org/drawingml/2006/main">
            <a:off x="7429500" y="2286000"/>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CE22512-60F2-4527-9855-EAA72DA8DE68}"/>
              </a:ext>
            </a:extLst>
          </p:cNvPr>
          <p:cNvSpPr>
            <a:spLocks xmlns:a="http://schemas.openxmlformats.org/drawingml/2006/main" noGrp="1"/>
          </p:cNvSpPr>
          <p:nvPr/>
        </p:nvSpPr>
        <p:spPr>
          <a:xfrm xmlns:a="http://schemas.openxmlformats.org/drawingml/2006/main">
            <a:off x="7791450" y="22383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Required files</a:t>
            </a:r>
          </a:p>
        </p:txBody>
      </p:sp>
      <p:sp>
        <p:nvSpPr>
          <p:cNvPr id="7" name="">
            <a:extLst xmlns:a="http://schemas.openxmlformats.org/drawingml/2006/main">
              <a:ext uri="{FF2B5EF4-FFF2-40B4-BE49-F238E27FC236}">
                <a16:creationId xmlns:a16="http://schemas.microsoft.com/office/drawing/2014/main" id="{562B30A4-1C68-4BB6-BCC4-6A1035DCFB90}"/>
              </a:ext>
            </a:extLst>
          </p:cNvPr>
          <p:cNvSpPr>
            <a:spLocks xmlns:a="http://schemas.openxmlformats.org/drawingml/2006/main" noGrp="1"/>
          </p:cNvSpPr>
          <p:nvPr/>
        </p:nvSpPr>
        <p:spPr>
          <a:xfrm xmlns:a="http://schemas.openxmlformats.org/drawingml/2006/main">
            <a:off x="7791450" y="26574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Each document has a clear name and owner.</a:t>
            </a:r>
          </a:p>
        </p:txBody>
      </p:sp>
      <p:sp>
        <p:nvSpPr>
          <p:cNvPr id="8" name="">
            <a:extLst xmlns:a="http://schemas.openxmlformats.org/drawingml/2006/main">
              <a:ext uri="{FF2B5EF4-FFF2-40B4-BE49-F238E27FC236}">
                <a16:creationId xmlns:a16="http://schemas.microsoft.com/office/drawing/2014/main" id="{D6417A90-3695-4834-AC0E-40CAFC977759}"/>
              </a:ext>
            </a:extLst>
          </p:cNvPr>
          <p:cNvSpPr>
            <a:spLocks xmlns:a="http://schemas.openxmlformats.org/drawingml/2006/main" noGrp="1"/>
          </p:cNvSpPr>
          <p:nvPr/>
        </p:nvSpPr>
        <p:spPr>
          <a:xfrm xmlns:a="http://schemas.openxmlformats.org/drawingml/2006/main">
            <a:off x="7429500" y="3476625"/>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6BCC322-048B-4203-A7A6-2714B674329A}"/>
              </a:ext>
            </a:extLst>
          </p:cNvPr>
          <p:cNvSpPr>
            <a:spLocks xmlns:a="http://schemas.openxmlformats.org/drawingml/2006/main" noGrp="1"/>
          </p:cNvSpPr>
          <p:nvPr/>
        </p:nvSpPr>
        <p:spPr>
          <a:xfrm xmlns:a="http://schemas.openxmlformats.org/drawingml/2006/main">
            <a:off x="7791450" y="34290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Upload rules</a:t>
            </a:r>
          </a:p>
        </p:txBody>
      </p:sp>
      <p:sp>
        <p:nvSpPr>
          <p:cNvPr id="10" name="">
            <a:extLst xmlns:a="http://schemas.openxmlformats.org/drawingml/2006/main">
              <a:ext uri="{FF2B5EF4-FFF2-40B4-BE49-F238E27FC236}">
                <a16:creationId xmlns:a16="http://schemas.microsoft.com/office/drawing/2014/main" id="{09D4D5E9-DA24-49A3-B543-5855E287378D}"/>
              </a:ext>
            </a:extLst>
          </p:cNvPr>
          <p:cNvSpPr>
            <a:spLocks xmlns:a="http://schemas.openxmlformats.org/drawingml/2006/main" noGrp="1"/>
          </p:cNvSpPr>
          <p:nvPr/>
        </p:nvSpPr>
        <p:spPr>
          <a:xfrm xmlns:a="http://schemas.openxmlformats.org/drawingml/2006/main">
            <a:off x="7791450" y="38481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Accepted format and maximum size appear before upload.</a:t>
            </a:r>
          </a:p>
        </p:txBody>
      </p:sp>
      <p:sp>
        <p:nvSpPr>
          <p:cNvPr id="11" name="">
            <a:extLst xmlns:a="http://schemas.openxmlformats.org/drawingml/2006/main">
              <a:ext uri="{FF2B5EF4-FFF2-40B4-BE49-F238E27FC236}">
                <a16:creationId xmlns:a16="http://schemas.microsoft.com/office/drawing/2014/main" id="{CC67F4E2-2C33-42D0-8F98-E9C6D8F728F3}"/>
              </a:ext>
            </a:extLst>
          </p:cNvPr>
          <p:cNvSpPr>
            <a:spLocks xmlns:a="http://schemas.openxmlformats.org/drawingml/2006/main" noGrp="1"/>
          </p:cNvSpPr>
          <p:nvPr/>
        </p:nvSpPr>
        <p:spPr>
          <a:xfrm xmlns:a="http://schemas.openxmlformats.org/drawingml/2006/main">
            <a:off x="7429500" y="4667250"/>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5AEAA44-12B0-4A47-B94B-8765188C23A7}"/>
              </a:ext>
            </a:extLst>
          </p:cNvPr>
          <p:cNvSpPr>
            <a:spLocks xmlns:a="http://schemas.openxmlformats.org/drawingml/2006/main" noGrp="1"/>
          </p:cNvSpPr>
          <p:nvPr/>
        </p:nvSpPr>
        <p:spPr>
          <a:xfrm xmlns:a="http://schemas.openxmlformats.org/drawingml/2006/main">
            <a:off x="7791450" y="46196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Completion status</a:t>
            </a:r>
          </a:p>
        </p:txBody>
      </p:sp>
      <p:sp>
        <p:nvSpPr>
          <p:cNvPr id="13" name="">
            <a:extLst xmlns:a="http://schemas.openxmlformats.org/drawingml/2006/main">
              <a:ext uri="{FF2B5EF4-FFF2-40B4-BE49-F238E27FC236}">
                <a16:creationId xmlns:a16="http://schemas.microsoft.com/office/drawing/2014/main" id="{2D04B9EE-9673-4DA4-9DF2-17DF13A026FB}"/>
              </a:ext>
            </a:extLst>
          </p:cNvPr>
          <p:cNvSpPr>
            <a:spLocks xmlns:a="http://schemas.openxmlformats.org/drawingml/2006/main" noGrp="1"/>
          </p:cNvSpPr>
          <p:nvPr/>
        </p:nvSpPr>
        <p:spPr>
          <a:xfrm xmlns:a="http://schemas.openxmlformats.org/drawingml/2006/main">
            <a:off x="7791450" y="50387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The checklist shows what still needs attention.</a:t>
            </a:r>
          </a:p>
        </p:txBody>
      </p:sp>
      <p:sp>
        <p:nvSpPr>
          <p:cNvPr id="14" name="">
            <a:extLst xmlns:a="http://schemas.openxmlformats.org/drawingml/2006/main">
              <a:ext uri="{FF2B5EF4-FFF2-40B4-BE49-F238E27FC236}">
                <a16:creationId xmlns:a16="http://schemas.microsoft.com/office/drawing/2014/main" id="{382DCFA6-8108-438A-AD2B-6C7E59E4F2DF}"/>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06</a:t>
            </a:r>
          </a:p>
        </p:txBody>
      </p:sp>
    </p:spTree>
    <p:extLst>
      <p:ext uri="{BB962C8B-B14F-4D97-AF65-F5344CB8AC3E}">
        <p14:creationId xmlns:p14="http://schemas.microsoft.com/office/powerpoint/2010/main" val="1973598479"/>
      </p:ext>
    </p:extLst>
  </p:cSld>
</p:sld>
</file>

<file path=ppt/slides/slide7.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05DAB7-523E-430C-B3C9-CDDF2B8EB29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39406D-6A46-4239-B8BE-D5DBC39A4A0E}"/>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same event reaches the review queue</a:t>
            </a:r>
          </a:p>
        </p:txBody>
      </p:sp>
      <p:sp>
        <p:nvSpPr>
          <p:cNvPr id="3" name="">
            <a:extLst xmlns:a="http://schemas.openxmlformats.org/drawingml/2006/main">
              <a:ext uri="{FF2B5EF4-FFF2-40B4-BE49-F238E27FC236}">
                <a16:creationId xmlns:a16="http://schemas.microsoft.com/office/drawing/2014/main" id="{0FF9A343-657F-4A11-BAA5-510D3B879FC1}"/>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Staff can search, filter, and open the proposal from one workspace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2041205d5bf4af8"/>
          <a:srcRect xmlns:a="http://schemas.openxmlformats.org/drawingml/2006/main" l="0" t="8895" r="0" b="8895"/>
          <a:stretch xmlns:a="http://schemas.openxmlformats.org/drawingml/2006/main">
            <a:fillRect l="0" t="0" r="0" b="0"/>
          </a:stretch>
        </p:blipFill>
        <p:spPr>
          <a:xfrm xmlns:a="http://schemas.openxmlformats.org/drawingml/2006/main">
            <a:off x="590550" y="1428750"/>
            <a:ext cx="11010900" cy="4448175"/>
          </a:xfrm>
          <a:prstGeom xmlns:a="http://schemas.openxmlformats.org/drawingml/2006/main" prst="roundRect">
            <a:avLst>
              <a:gd name="adj" fmla="val 3854"/>
            </a:avLst>
          </a:prstGeom>
        </p:spPr>
      </p:pic>
      <p:sp>
        <p:nvSpPr>
          <p:cNvPr id="5" name="">
            <a:extLst xmlns:a="http://schemas.openxmlformats.org/drawingml/2006/main">
              <a:ext uri="{FF2B5EF4-FFF2-40B4-BE49-F238E27FC236}">
                <a16:creationId xmlns:a16="http://schemas.microsoft.com/office/drawing/2014/main" id="{A935AD75-DDC4-428E-9A42-693A256BDB5C}"/>
              </a:ext>
            </a:extLst>
          </p:cNvPr>
          <p:cNvSpPr>
            <a:spLocks xmlns:a="http://schemas.openxmlformats.org/drawingml/2006/main" noGrp="1"/>
          </p:cNvSpPr>
          <p:nvPr/>
        </p:nvSpPr>
        <p:spPr>
          <a:xfrm xmlns:a="http://schemas.openxmlformats.org/drawingml/2006/main">
            <a:off x="8239125" y="5219700"/>
            <a:ext cx="2905125" cy="552450"/>
          </a:xfrm>
          <a:prstGeom xmlns:a="http://schemas.openxmlformats.org/drawingml/2006/main" prst="roundRect">
            <a:avLst>
              <a:gd name="adj" fmla="val 24138"/>
            </a:avLst>
          </a:prstGeom>
          <a:solidFill xmlns:a="http://schemas.openxmlformats.org/drawingml/2006/main">
            <a:srgbClr val="15171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05A089F-8780-4F59-82D2-9402EFF1AC3F}"/>
              </a:ext>
            </a:extLst>
          </p:cNvPr>
          <p:cNvSpPr>
            <a:spLocks xmlns:a="http://schemas.openxmlformats.org/drawingml/2006/main" noGrp="1"/>
          </p:cNvSpPr>
          <p:nvPr/>
        </p:nvSpPr>
        <p:spPr>
          <a:xfrm xmlns:a="http://schemas.openxmlformats.org/drawingml/2006/main">
            <a:off x="8420100" y="5391150"/>
            <a:ext cx="25431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FFFFFF"/>
                </a:solidFill>
                <a:latin typeface="Segoe UI"/>
                <a:ea typeface="Segoe UI"/>
                <a:cs typeface="Segoe UI"/>
              </a:defRPr>
            </a:pPr>
            <a:r>
              <a:rPr sz="1425" b="1">
                <a:solidFill>
                  <a:srgbClr val="FFFFFF"/>
                </a:solidFill>
                <a:latin typeface="Segoe UI"/>
                <a:ea typeface="Segoe UI"/>
                <a:cs typeface="Segoe UI"/>
              </a:rPr>
              <a:t>Status stays visible</a:t>
            </a:r>
          </a:p>
        </p:txBody>
      </p:sp>
      <p:sp>
        <p:nvSpPr>
          <p:cNvPr id="7" name="">
            <a:extLst xmlns:a="http://schemas.openxmlformats.org/drawingml/2006/main">
              <a:ext uri="{FF2B5EF4-FFF2-40B4-BE49-F238E27FC236}">
                <a16:creationId xmlns:a16="http://schemas.microsoft.com/office/drawing/2014/main" id="{74396962-4F08-4563-B9C0-3E1214D3068F}"/>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07</a:t>
            </a:r>
          </a:p>
        </p:txBody>
      </p:sp>
    </p:spTree>
    <p:extLst>
      <p:ext uri="{BB962C8B-B14F-4D97-AF65-F5344CB8AC3E}">
        <p14:creationId xmlns:p14="http://schemas.microsoft.com/office/powerpoint/2010/main" val="5164451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7359B76-10D8-4418-B3A8-4D8AA208CD9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579360-E494-42EC-AA53-0876490C48C4}"/>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Trusted records support every proposal</a:t>
            </a:r>
          </a:p>
        </p:txBody>
      </p:sp>
      <p:sp>
        <p:nvSpPr>
          <p:cNvPr id="3" name="">
            <a:extLst xmlns:a="http://schemas.openxmlformats.org/drawingml/2006/main">
              <a:ext uri="{FF2B5EF4-FFF2-40B4-BE49-F238E27FC236}">
                <a16:creationId xmlns:a16="http://schemas.microsoft.com/office/drawing/2014/main" id="{609EDC9C-BDFF-43F9-8D69-F78B0E675C8A}"/>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current setup carries the approved masterlist and active directory</a:t>
            </a:r>
          </a:p>
        </p:txBody>
      </p:sp>
      <p:sp>
        <p:nvSpPr>
          <p:cNvPr id="4" name="">
            <a:extLst xmlns:a="http://schemas.openxmlformats.org/drawingml/2006/main">
              <a:ext uri="{FF2B5EF4-FFF2-40B4-BE49-F238E27FC236}">
                <a16:creationId xmlns:a16="http://schemas.microsoft.com/office/drawing/2014/main" id="{7E5FA5BD-E609-4183-8449-609F1DF5E23A}"/>
              </a:ext>
            </a:extLst>
          </p:cNvPr>
          <p:cNvSpPr>
            <a:spLocks xmlns:a="http://schemas.openxmlformats.org/drawingml/2006/main" noGrp="1"/>
          </p:cNvSpPr>
          <p:nvPr/>
        </p:nvSpPr>
        <p:spPr>
          <a:xfrm xmlns:a="http://schemas.openxmlformats.org/drawingml/2006/main">
            <a:off x="647700" y="1371600"/>
            <a:ext cx="1352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278</a:t>
            </a:r>
          </a:p>
        </p:txBody>
      </p:sp>
      <p:sp>
        <p:nvSpPr>
          <p:cNvPr id="5" name="">
            <a:extLst xmlns:a="http://schemas.openxmlformats.org/drawingml/2006/main">
              <a:ext uri="{FF2B5EF4-FFF2-40B4-BE49-F238E27FC236}">
                <a16:creationId xmlns:a16="http://schemas.microsoft.com/office/drawing/2014/main" id="{ADBA197A-0010-4D51-BE53-FAA03D3EBC88}"/>
              </a:ext>
            </a:extLst>
          </p:cNvPr>
          <p:cNvSpPr>
            <a:spLocks xmlns:a="http://schemas.openxmlformats.org/drawingml/2006/main" noGrp="1"/>
          </p:cNvSpPr>
          <p:nvPr/>
        </p:nvSpPr>
        <p:spPr>
          <a:xfrm xmlns:a="http://schemas.openxmlformats.org/drawingml/2006/main">
            <a:off x="666750" y="20097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registrar records</a:t>
            </a:r>
          </a:p>
        </p:txBody>
      </p:sp>
      <p:sp>
        <p:nvSpPr>
          <p:cNvPr id="6" name="">
            <a:extLst xmlns:a="http://schemas.openxmlformats.org/drawingml/2006/main">
              <a:ext uri="{FF2B5EF4-FFF2-40B4-BE49-F238E27FC236}">
                <a16:creationId xmlns:a16="http://schemas.microsoft.com/office/drawing/2014/main" id="{0CDE4268-B517-4DEE-BBBB-29011A3057DD}"/>
              </a:ext>
            </a:extLst>
          </p:cNvPr>
          <p:cNvSpPr>
            <a:spLocks xmlns:a="http://schemas.openxmlformats.org/drawingml/2006/main" noGrp="1"/>
          </p:cNvSpPr>
          <p:nvPr/>
        </p:nvSpPr>
        <p:spPr>
          <a:xfrm xmlns:a="http://schemas.openxmlformats.org/drawingml/2006/main">
            <a:off x="2543175" y="1371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5</a:t>
            </a:r>
          </a:p>
        </p:txBody>
      </p:sp>
      <p:sp>
        <p:nvSpPr>
          <p:cNvPr id="7" name="">
            <a:extLst xmlns:a="http://schemas.openxmlformats.org/drawingml/2006/main">
              <a:ext uri="{FF2B5EF4-FFF2-40B4-BE49-F238E27FC236}">
                <a16:creationId xmlns:a16="http://schemas.microsoft.com/office/drawing/2014/main" id="{5ADB2053-F28F-47D2-A7E0-E588473B2D57}"/>
              </a:ext>
            </a:extLst>
          </p:cNvPr>
          <p:cNvSpPr>
            <a:spLocks xmlns:a="http://schemas.openxmlformats.org/drawingml/2006/main" noGrp="1"/>
          </p:cNvSpPr>
          <p:nvPr/>
        </p:nvSpPr>
        <p:spPr>
          <a:xfrm xmlns:a="http://schemas.openxmlformats.org/drawingml/2006/main">
            <a:off x="2562225" y="20097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active organizations</a:t>
            </a:r>
          </a:p>
        </p:txBody>
      </p:sp>
      <p:sp>
        <p:nvSpPr>
          <p:cNvPr id="8" name="">
            <a:extLst xmlns:a="http://schemas.openxmlformats.org/drawingml/2006/main">
              <a:ext uri="{FF2B5EF4-FFF2-40B4-BE49-F238E27FC236}">
                <a16:creationId xmlns:a16="http://schemas.microsoft.com/office/drawing/2014/main" id="{A29BA54C-078F-465C-A66D-C1137621F0E1}"/>
              </a:ext>
            </a:extLst>
          </p:cNvPr>
          <p:cNvSpPr>
            <a:spLocks xmlns:a="http://schemas.openxmlformats.org/drawingml/2006/main" noGrp="1"/>
          </p:cNvSpPr>
          <p:nvPr/>
        </p:nvSpPr>
        <p:spPr>
          <a:xfrm xmlns:a="http://schemas.openxmlformats.org/drawingml/2006/main">
            <a:off x="4610100" y="1371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6</a:t>
            </a:r>
          </a:p>
        </p:txBody>
      </p:sp>
      <p:sp>
        <p:nvSpPr>
          <p:cNvPr id="9" name="">
            <a:extLst xmlns:a="http://schemas.openxmlformats.org/drawingml/2006/main">
              <a:ext uri="{FF2B5EF4-FFF2-40B4-BE49-F238E27FC236}">
                <a16:creationId xmlns:a16="http://schemas.microsoft.com/office/drawing/2014/main" id="{E9CA963C-42FF-43EC-B45B-6BE310EABB19}"/>
              </a:ext>
            </a:extLst>
          </p:cNvPr>
          <p:cNvSpPr>
            <a:spLocks xmlns:a="http://schemas.openxmlformats.org/drawingml/2006/main" noGrp="1"/>
          </p:cNvSpPr>
          <p:nvPr/>
        </p:nvSpPr>
        <p:spPr>
          <a:xfrm xmlns:a="http://schemas.openxmlformats.org/drawingml/2006/main">
            <a:off x="4629150" y="20097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departments and offices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f9aac38e0ea4a44"/>
          <a:srcRect xmlns:a="http://schemas.openxmlformats.org/drawingml/2006/main" l="0" t="13288" r="0" b="13288"/>
          <a:stretch xmlns:a="http://schemas.openxmlformats.org/drawingml/2006/main">
            <a:fillRect l="0" t="0" r="0" b="0"/>
          </a:stretch>
        </p:blipFill>
        <p:spPr>
          <a:xfrm xmlns:a="http://schemas.openxmlformats.org/drawingml/2006/main">
            <a:off x="619125" y="2628900"/>
            <a:ext cx="6572250" cy="3286125"/>
          </a:xfrm>
          <a:prstGeom xmlns:a="http://schemas.openxmlformats.org/drawingml/2006/main" prst="roundRect">
            <a:avLst>
              <a:gd name="adj" fmla="val 5217"/>
            </a:avLst>
          </a:prstGeom>
        </p:spPr>
      </p:pic>
      <p:sp>
        <p:nvSpPr>
          <p:cNvPr id="11" name="">
            <a:extLst xmlns:a="http://schemas.openxmlformats.org/drawingml/2006/main">
              <a:ext uri="{FF2B5EF4-FFF2-40B4-BE49-F238E27FC236}">
                <a16:creationId xmlns:a16="http://schemas.microsoft.com/office/drawing/2014/main" id="{2CD2673C-7D6C-43F5-9755-C0D11A4928ED}"/>
              </a:ext>
            </a:extLst>
          </p:cNvPr>
          <p:cNvSpPr>
            <a:spLocks xmlns:a="http://schemas.openxmlformats.org/drawingml/2006/main" noGrp="1"/>
          </p:cNvSpPr>
          <p:nvPr/>
        </p:nvSpPr>
        <p:spPr>
          <a:xfrm xmlns:a="http://schemas.openxmlformats.org/drawingml/2006/main">
            <a:off x="666750" y="3048000"/>
            <a:ext cx="3000375" cy="2819400"/>
          </a:xfrm>
          <a:prstGeom xmlns:a="http://schemas.openxmlformats.org/drawingml/2006/main" prst="roundRect">
            <a:avLst>
              <a:gd name="adj" fmla="val 4054"/>
            </a:avLst>
          </a:prstGeom>
          <a:solidFill xmlns:a="http://schemas.openxmlformats.org/drawingml/2006/main">
            <a:srgbClr val="F5F6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CEFCB2C-EC07-494F-B805-043505A71F5C}"/>
              </a:ext>
            </a:extLst>
          </p:cNvPr>
          <p:cNvSpPr>
            <a:spLocks xmlns:a="http://schemas.openxmlformats.org/drawingml/2006/main" noGrp="1"/>
          </p:cNvSpPr>
          <p:nvPr/>
        </p:nvSpPr>
        <p:spPr>
          <a:xfrm xmlns:a="http://schemas.openxmlformats.org/drawingml/2006/main">
            <a:off x="895350" y="3905250"/>
            <a:ext cx="76200" cy="8191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3DBEE7A-BFE5-41B8-ADD0-A2281503FD2A}"/>
              </a:ext>
            </a:extLst>
          </p:cNvPr>
          <p:cNvSpPr>
            <a:spLocks xmlns:a="http://schemas.openxmlformats.org/drawingml/2006/main" noGrp="1"/>
          </p:cNvSpPr>
          <p:nvPr/>
        </p:nvSpPr>
        <p:spPr>
          <a:xfrm xmlns:a="http://schemas.openxmlformats.org/drawingml/2006/main">
            <a:off x="1162050" y="4019550"/>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Personal student details</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hidden for presentation</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c8c29263b1464aba"/>
          <a:srcRect xmlns:a="http://schemas.openxmlformats.org/drawingml/2006/main" l="0" t="23013" r="0" b="23013"/>
          <a:stretch xmlns:a="http://schemas.openxmlformats.org/drawingml/2006/main">
            <a:fillRect l="0" t="0" r="0" b="0"/>
          </a:stretch>
        </p:blipFill>
        <p:spPr>
          <a:xfrm xmlns:a="http://schemas.openxmlformats.org/drawingml/2006/main">
            <a:off x="7477125" y="2628900"/>
            <a:ext cx="4095750" cy="1504950"/>
          </a:xfrm>
          <a:prstGeom xmlns:a="http://schemas.openxmlformats.org/drawingml/2006/main" prst="roundRect">
            <a:avLst>
              <a:gd name="adj" fmla="val 11392"/>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9dfe8434148475a"/>
          <a:srcRect xmlns:a="http://schemas.openxmlformats.org/drawingml/2006/main" l="0" t="23511" r="0" b="23511"/>
          <a:stretch xmlns:a="http://schemas.openxmlformats.org/drawingml/2006/main">
            <a:fillRect l="0" t="0" r="0" b="0"/>
          </a:stretch>
        </p:blipFill>
        <p:spPr>
          <a:xfrm xmlns:a="http://schemas.openxmlformats.org/drawingml/2006/main">
            <a:off x="7477125" y="4400550"/>
            <a:ext cx="4095750" cy="1514475"/>
          </a:xfrm>
          <a:prstGeom xmlns:a="http://schemas.openxmlformats.org/drawingml/2006/main" prst="roundRect">
            <a:avLst>
              <a:gd name="adj" fmla="val 11321"/>
            </a:avLst>
          </a:prstGeom>
        </p:spPr>
      </p:pic>
      <p:sp>
        <p:nvSpPr>
          <p:cNvPr id="16" name="">
            <a:extLst xmlns:a="http://schemas.openxmlformats.org/drawingml/2006/main">
              <a:ext uri="{FF2B5EF4-FFF2-40B4-BE49-F238E27FC236}">
                <a16:creationId xmlns:a16="http://schemas.microsoft.com/office/drawing/2014/main" id="{98A18E14-3139-4F8F-A894-799AD5F36BD5}"/>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08</a:t>
            </a:r>
          </a:p>
        </p:txBody>
      </p:sp>
    </p:spTree>
    <p:extLst>
      <p:ext uri="{BB962C8B-B14F-4D97-AF65-F5344CB8AC3E}">
        <p14:creationId xmlns:p14="http://schemas.microsoft.com/office/powerpoint/2010/main" val="2062999586"/>
      </p:ext>
    </p:extLst>
  </p:cSld>
</p:sld>
</file>

<file path=ppt/slides/slide9.xml><?xml version="1.0" encoding="utf-8"?>
<p:sld xmlns:p="http://schemas.openxmlformats.org/presentationml/2006/main">
  <p:cSld>
    <p:bg>
      <p:bgPr>
        <a:solidFill xmlns:a="http://schemas.openxmlformats.org/drawingml/2006/main">
          <a:srgbClr val="15171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7A9B636-A931-4F83-BAD7-3EAAFD8BC82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0972EA-1A6F-4BF5-9726-233E12DA96AB}"/>
              </a:ext>
            </a:extLst>
          </p:cNvPr>
          <p:cNvSpPr>
            <a:spLocks xmlns:a="http://schemas.openxmlformats.org/drawingml/2006/main" noGrp="1"/>
          </p:cNvSpPr>
          <p:nvPr/>
        </p:nvSpPr>
        <p:spPr>
          <a:xfrm xmlns:a="http://schemas.openxmlformats.org/drawingml/2006/main">
            <a:off x="628650" y="4381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Segoe UI"/>
                <a:ea typeface="Segoe UI"/>
                <a:cs typeface="Segoe UI"/>
              </a:defRPr>
            </a:pPr>
            <a:r>
              <a:rPr sz="3450" b="1">
                <a:solidFill>
                  <a:srgbClr val="FFFFFF"/>
                </a:solidFill>
                <a:latin typeface="Segoe UI"/>
                <a:ea typeface="Segoe UI"/>
                <a:cs typeface="Segoe UI"/>
              </a:rPr>
              <a:t>Value for each stakeholder</a:t>
            </a:r>
          </a:p>
        </p:txBody>
      </p:sp>
      <p:sp>
        <p:nvSpPr>
          <p:cNvPr id="3" name="">
            <a:extLst xmlns:a="http://schemas.openxmlformats.org/drawingml/2006/main">
              <a:ext uri="{FF2B5EF4-FFF2-40B4-BE49-F238E27FC236}">
                <a16:creationId xmlns:a16="http://schemas.microsoft.com/office/drawing/2014/main" id="{F030D584-BB88-4C91-A41B-6784308E7734}"/>
              </a:ext>
            </a:extLst>
          </p:cNvPr>
          <p:cNvSpPr>
            <a:spLocks xmlns:a="http://schemas.openxmlformats.org/drawingml/2006/main" noGrp="1"/>
          </p:cNvSpPr>
          <p:nvPr/>
        </p:nvSpPr>
        <p:spPr>
          <a:xfrm xmlns:a="http://schemas.openxmlformats.org/drawingml/2006/main">
            <a:off x="685800" y="15049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STUDENT</a:t>
            </a:r>
          </a:p>
        </p:txBody>
      </p:sp>
      <p:sp>
        <p:nvSpPr>
          <p:cNvPr id="4" name="">
            <a:extLst xmlns:a="http://schemas.openxmlformats.org/drawingml/2006/main">
              <a:ext uri="{FF2B5EF4-FFF2-40B4-BE49-F238E27FC236}">
                <a16:creationId xmlns:a16="http://schemas.microsoft.com/office/drawing/2014/main" id="{216B30A7-DB74-43EE-BFE8-EC43C740E7A6}"/>
              </a:ext>
            </a:extLst>
          </p:cNvPr>
          <p:cNvSpPr>
            <a:spLocks xmlns:a="http://schemas.openxmlformats.org/drawingml/2006/main" noGrp="1"/>
          </p:cNvSpPr>
          <p:nvPr/>
        </p:nvSpPr>
        <p:spPr>
          <a:xfrm xmlns:a="http://schemas.openxmlformats.org/drawingml/2006/main">
            <a:off x="3000375" y="14287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Knows what to submit and where the proposal stands</a:t>
            </a:r>
          </a:p>
        </p:txBody>
      </p:sp>
      <p:sp>
        <p:nvSpPr>
          <p:cNvPr id="5" name="">
            <a:extLst xmlns:a="http://schemas.openxmlformats.org/drawingml/2006/main">
              <a:ext uri="{FF2B5EF4-FFF2-40B4-BE49-F238E27FC236}">
                <a16:creationId xmlns:a16="http://schemas.microsoft.com/office/drawing/2014/main" id="{D4A2FB65-3454-419B-8236-6CE09BCC3717}"/>
              </a:ext>
            </a:extLst>
          </p:cNvPr>
          <p:cNvSpPr>
            <a:spLocks xmlns:a="http://schemas.openxmlformats.org/drawingml/2006/main" noGrp="1"/>
          </p:cNvSpPr>
          <p:nvPr/>
        </p:nvSpPr>
        <p:spPr>
          <a:xfrm xmlns:a="http://schemas.openxmlformats.org/drawingml/2006/main">
            <a:off x="3000375" y="219075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529CD9F-71F7-4D55-96F6-418E32D5FF54}"/>
              </a:ext>
            </a:extLst>
          </p:cNvPr>
          <p:cNvSpPr>
            <a:spLocks xmlns:a="http://schemas.openxmlformats.org/drawingml/2006/main" noGrp="1"/>
          </p:cNvSpPr>
          <p:nvPr/>
        </p:nvSpPr>
        <p:spPr>
          <a:xfrm xmlns:a="http://schemas.openxmlformats.org/drawingml/2006/main">
            <a:off x="685800" y="26289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MODERATOR</a:t>
            </a:r>
          </a:p>
        </p:txBody>
      </p:sp>
      <p:sp>
        <p:nvSpPr>
          <p:cNvPr id="7" name="">
            <a:extLst xmlns:a="http://schemas.openxmlformats.org/drawingml/2006/main">
              <a:ext uri="{FF2B5EF4-FFF2-40B4-BE49-F238E27FC236}">
                <a16:creationId xmlns:a16="http://schemas.microsoft.com/office/drawing/2014/main" id="{730DCAB2-115C-4F2D-B8D2-AA27D18F0BCB}"/>
              </a:ext>
            </a:extLst>
          </p:cNvPr>
          <p:cNvSpPr>
            <a:spLocks xmlns:a="http://schemas.openxmlformats.org/drawingml/2006/main" noGrp="1"/>
          </p:cNvSpPr>
          <p:nvPr/>
        </p:nvSpPr>
        <p:spPr>
          <a:xfrm xmlns:a="http://schemas.openxmlformats.org/drawingml/2006/main">
            <a:off x="3000375" y="25527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Sees assigned documents and the review waiting for action</a:t>
            </a:r>
          </a:p>
        </p:txBody>
      </p:sp>
      <p:sp>
        <p:nvSpPr>
          <p:cNvPr id="8" name="">
            <a:extLst xmlns:a="http://schemas.openxmlformats.org/drawingml/2006/main">
              <a:ext uri="{FF2B5EF4-FFF2-40B4-BE49-F238E27FC236}">
                <a16:creationId xmlns:a16="http://schemas.microsoft.com/office/drawing/2014/main" id="{9420B667-ED02-46D4-A460-BF04919240D8}"/>
              </a:ext>
            </a:extLst>
          </p:cNvPr>
          <p:cNvSpPr>
            <a:spLocks xmlns:a="http://schemas.openxmlformats.org/drawingml/2006/main" noGrp="1"/>
          </p:cNvSpPr>
          <p:nvPr/>
        </p:nvSpPr>
        <p:spPr>
          <a:xfrm xmlns:a="http://schemas.openxmlformats.org/drawingml/2006/main">
            <a:off x="3000375" y="331470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5C31F5E-1D1F-445A-AA4B-B976FD255C2E}"/>
              </a:ext>
            </a:extLst>
          </p:cNvPr>
          <p:cNvSpPr>
            <a:spLocks xmlns:a="http://schemas.openxmlformats.org/drawingml/2006/main" noGrp="1"/>
          </p:cNvSpPr>
          <p:nvPr/>
        </p:nvSpPr>
        <p:spPr>
          <a:xfrm xmlns:a="http://schemas.openxmlformats.org/drawingml/2006/main">
            <a:off x="685800" y="37528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ADMINISTRATOR</a:t>
            </a:r>
          </a:p>
        </p:txBody>
      </p:sp>
      <p:sp>
        <p:nvSpPr>
          <p:cNvPr id="10" name="">
            <a:extLst xmlns:a="http://schemas.openxmlformats.org/drawingml/2006/main">
              <a:ext uri="{FF2B5EF4-FFF2-40B4-BE49-F238E27FC236}">
                <a16:creationId xmlns:a16="http://schemas.microsoft.com/office/drawing/2014/main" id="{F5311993-5E38-4858-8E0B-B3261D1EE311}"/>
              </a:ext>
            </a:extLst>
          </p:cNvPr>
          <p:cNvSpPr>
            <a:spLocks xmlns:a="http://schemas.openxmlformats.org/drawingml/2006/main" noGrp="1"/>
          </p:cNvSpPr>
          <p:nvPr/>
        </p:nvSpPr>
        <p:spPr>
          <a:xfrm xmlns:a="http://schemas.openxmlformats.org/drawingml/2006/main">
            <a:off x="3000375" y="36766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Works from one current record across the process</a:t>
            </a:r>
          </a:p>
        </p:txBody>
      </p:sp>
      <p:sp>
        <p:nvSpPr>
          <p:cNvPr id="11" name="">
            <a:extLst xmlns:a="http://schemas.openxmlformats.org/drawingml/2006/main">
              <a:ext uri="{FF2B5EF4-FFF2-40B4-BE49-F238E27FC236}">
                <a16:creationId xmlns:a16="http://schemas.microsoft.com/office/drawing/2014/main" id="{0894BE40-20E0-45AA-9BEA-32B644C66456}"/>
              </a:ext>
            </a:extLst>
          </p:cNvPr>
          <p:cNvSpPr>
            <a:spLocks xmlns:a="http://schemas.openxmlformats.org/drawingml/2006/main" noGrp="1"/>
          </p:cNvSpPr>
          <p:nvPr/>
        </p:nvSpPr>
        <p:spPr>
          <a:xfrm xmlns:a="http://schemas.openxmlformats.org/drawingml/2006/main">
            <a:off x="3000375" y="443865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08A1A4C-28FE-413D-A41C-21A63BA851BD}"/>
              </a:ext>
            </a:extLst>
          </p:cNvPr>
          <p:cNvSpPr>
            <a:spLocks xmlns:a="http://schemas.openxmlformats.org/drawingml/2006/main" noGrp="1"/>
          </p:cNvSpPr>
          <p:nvPr/>
        </p:nvSpPr>
        <p:spPr>
          <a:xfrm xmlns:a="http://schemas.openxmlformats.org/drawingml/2006/main">
            <a:off x="685800" y="4876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STAKEHOLDER</a:t>
            </a:r>
          </a:p>
        </p:txBody>
      </p:sp>
      <p:sp>
        <p:nvSpPr>
          <p:cNvPr id="13" name="">
            <a:extLst xmlns:a="http://schemas.openxmlformats.org/drawingml/2006/main">
              <a:ext uri="{FF2B5EF4-FFF2-40B4-BE49-F238E27FC236}">
                <a16:creationId xmlns:a16="http://schemas.microsoft.com/office/drawing/2014/main" id="{E982C480-124C-4FCD-B834-01B2CC3E9C7D}"/>
              </a:ext>
            </a:extLst>
          </p:cNvPr>
          <p:cNvSpPr>
            <a:spLocks xmlns:a="http://schemas.openxmlformats.org/drawingml/2006/main" noGrp="1"/>
          </p:cNvSpPr>
          <p:nvPr/>
        </p:nvSpPr>
        <p:spPr>
          <a:xfrm xmlns:a="http://schemas.openxmlformats.org/drawingml/2006/main">
            <a:off x="3000375" y="48006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Gains clearer status, accountability, and continuity</a:t>
            </a:r>
          </a:p>
        </p:txBody>
      </p:sp>
      <p:sp>
        <p:nvSpPr>
          <p:cNvPr id="14" name="">
            <a:extLst xmlns:a="http://schemas.openxmlformats.org/drawingml/2006/main">
              <a:ext uri="{FF2B5EF4-FFF2-40B4-BE49-F238E27FC236}">
                <a16:creationId xmlns:a16="http://schemas.microsoft.com/office/drawing/2014/main" id="{81D9D197-9D25-4E10-9DD0-082BE9466C7A}"/>
              </a:ext>
            </a:extLst>
          </p:cNvPr>
          <p:cNvSpPr>
            <a:spLocks xmlns:a="http://schemas.openxmlformats.org/drawingml/2006/main" noGrp="1"/>
          </p:cNvSpPr>
          <p:nvPr/>
        </p:nvSpPr>
        <p:spPr>
          <a:xfrm xmlns:a="http://schemas.openxmlformats.org/drawingml/2006/main">
            <a:off x="1333500" y="60198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BEC4CE"/>
                </a:solidFill>
                <a:latin typeface="Segoe UI"/>
                <a:ea typeface="Segoe UI"/>
                <a:cs typeface="Segoe UI"/>
              </a:defRPr>
            </a:pPr>
            <a:r>
              <a:rPr sz="1800" b="0">
                <a:solidFill>
                  <a:srgbClr val="BEC4CE"/>
                </a:solidFill>
                <a:latin typeface="Segoe UI"/>
                <a:ea typeface="Segoe UI"/>
                <a:cs typeface="Segoe UI"/>
              </a:rPr>
              <a:t>The benefit comes from shared visibility, not from adding another form.</a:t>
            </a:r>
          </a:p>
        </p:txBody>
      </p:sp>
    </p:spTree>
    <p:extLst>
      <p:ext uri="{BB962C8B-B14F-4D97-AF65-F5344CB8AC3E}">
        <p14:creationId xmlns:p14="http://schemas.microsoft.com/office/powerpoint/2010/main" val="8907355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2C1062D-306C-4CEB-9AD7-2B10F32F6B8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DBBD71-F25C-40F1-AA89-A6950E07AE69}"/>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What happens behind the screen</a:t>
            </a:r>
          </a:p>
        </p:txBody>
      </p:sp>
      <p:sp>
        <p:nvSpPr>
          <p:cNvPr id="3" name="">
            <a:extLst xmlns:a="http://schemas.openxmlformats.org/drawingml/2006/main">
              <a:ext uri="{FF2B5EF4-FFF2-40B4-BE49-F238E27FC236}">
                <a16:creationId xmlns:a16="http://schemas.microsoft.com/office/drawing/2014/main" id="{F1BD81BF-066A-4037-A8D8-A35E855CD0B4}"/>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technology keeps the experience connected without making decisions for people</a:t>
            </a:r>
          </a:p>
        </p:txBody>
      </p:sp>
      <p:sp>
        <p:nvSpPr>
          <p:cNvPr id="4" name="">
            <a:extLst xmlns:a="http://schemas.openxmlformats.org/drawingml/2006/main">
              <a:ext uri="{FF2B5EF4-FFF2-40B4-BE49-F238E27FC236}">
                <a16:creationId xmlns:a16="http://schemas.microsoft.com/office/drawing/2014/main" id="{FE551B23-97F1-428D-B7BF-325574612F43}"/>
              </a:ext>
            </a:extLst>
          </p:cNvPr>
          <p:cNvSpPr>
            <a:spLocks xmlns:a="http://schemas.openxmlformats.org/drawingml/2006/main" noGrp="1"/>
          </p:cNvSpPr>
          <p:nvPr/>
        </p:nvSpPr>
        <p:spPr>
          <a:xfrm xmlns:a="http://schemas.openxmlformats.org/drawingml/2006/main">
            <a:off x="685800" y="2038350"/>
            <a:ext cx="2190750" cy="1466850"/>
          </a:xfrm>
          <a:prstGeom xmlns:a="http://schemas.openxmlformats.org/drawingml/2006/main" prst="roundRect">
            <a:avLst>
              <a:gd name="adj" fmla="val 11688"/>
            </a:avLst>
          </a:prstGeom>
          <a:solidFill xmlns:a="http://schemas.openxmlformats.org/drawingml/2006/main">
            <a:srgbClr val="FFF0F0"/>
          </a:solidFill>
          <a:ln xmlns:a="http://schemas.openxmlformats.org/drawingml/2006/main" w="9525">
            <a:solidFill>
              <a:srgbClr val="FFC4C5"/>
            </a:solidFill>
          </a:ln>
        </p:spPr>
      </p:sp>
      <p:sp>
        <p:nvSpPr>
          <p:cNvPr id="5" name="">
            <a:extLst xmlns:a="http://schemas.openxmlformats.org/drawingml/2006/main">
              <a:ext uri="{FF2B5EF4-FFF2-40B4-BE49-F238E27FC236}">
                <a16:creationId xmlns:a16="http://schemas.microsoft.com/office/drawing/2014/main" id="{948C7038-8D3F-4753-A4C8-BCF1327BE2CA}"/>
              </a:ext>
            </a:extLst>
          </p:cNvPr>
          <p:cNvSpPr>
            <a:spLocks xmlns:a="http://schemas.openxmlformats.org/drawingml/2006/main" noGrp="1"/>
          </p:cNvSpPr>
          <p:nvPr/>
        </p:nvSpPr>
        <p:spPr>
          <a:xfrm xmlns:a="http://schemas.openxmlformats.org/drawingml/2006/main">
            <a:off x="914400" y="23050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WEB PORTAL</a:t>
            </a:r>
          </a:p>
        </p:txBody>
      </p:sp>
      <p:sp>
        <p:nvSpPr>
          <p:cNvPr id="6" name="">
            <a:extLst xmlns:a="http://schemas.openxmlformats.org/drawingml/2006/main">
              <a:ext uri="{FF2B5EF4-FFF2-40B4-BE49-F238E27FC236}">
                <a16:creationId xmlns:a16="http://schemas.microsoft.com/office/drawing/2014/main" id="{CDC806CE-840D-465A-B507-CEACD6FBDE83}"/>
              </a:ext>
            </a:extLst>
          </p:cNvPr>
          <p:cNvSpPr>
            <a:spLocks xmlns:a="http://schemas.openxmlformats.org/drawingml/2006/main" noGrp="1"/>
          </p:cNvSpPr>
          <p:nvPr/>
        </p:nvSpPr>
        <p:spPr>
          <a:xfrm xmlns:a="http://schemas.openxmlformats.org/drawingml/2006/main">
            <a:off x="914400" y="272415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Students and staff</a:t>
            </a:r>
          </a:p>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use one browser</a:t>
            </a:r>
          </a:p>
        </p:txBody>
      </p:sp>
      <p:sp>
        <p:nvSpPr>
          <p:cNvPr id="7" name="">
            <a:extLst xmlns:a="http://schemas.openxmlformats.org/drawingml/2006/main">
              <a:ext uri="{FF2B5EF4-FFF2-40B4-BE49-F238E27FC236}">
                <a16:creationId xmlns:a16="http://schemas.microsoft.com/office/drawing/2014/main" id="{CDC828D6-8016-441E-8F0B-1146F4D4D4B6}"/>
              </a:ext>
            </a:extLst>
          </p:cNvPr>
          <p:cNvSpPr>
            <a:spLocks xmlns:a="http://schemas.openxmlformats.org/drawingml/2006/main" noGrp="1"/>
          </p:cNvSpPr>
          <p:nvPr/>
        </p:nvSpPr>
        <p:spPr>
          <a:xfrm xmlns:a="http://schemas.openxmlformats.org/drawingml/2006/main">
            <a:off x="4210050" y="1752600"/>
            <a:ext cx="3143250" cy="2038350"/>
          </a:xfrm>
          <a:prstGeom xmlns:a="http://schemas.openxmlformats.org/drawingml/2006/main" prst="roundRect">
            <a:avLst>
              <a:gd name="adj" fmla="val 8411"/>
            </a:avLst>
          </a:prstGeom>
          <a:solidFill xmlns:a="http://schemas.openxmlformats.org/drawingml/2006/main">
            <a:srgbClr val="15171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E2CE1A2-B98F-4C92-A97D-FF5A907574FE}"/>
              </a:ext>
            </a:extLst>
          </p:cNvPr>
          <p:cNvSpPr>
            <a:spLocks xmlns:a="http://schemas.openxmlformats.org/drawingml/2006/main" noGrp="1"/>
          </p:cNvSpPr>
          <p:nvPr/>
        </p:nvSpPr>
        <p:spPr>
          <a:xfrm xmlns:a="http://schemas.openxmlformats.org/drawingml/2006/main">
            <a:off x="4514850" y="2057400"/>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APPLICATION SERVICES</a:t>
            </a:r>
          </a:p>
        </p:txBody>
      </p:sp>
      <p:sp>
        <p:nvSpPr>
          <p:cNvPr id="9" name="">
            <a:extLst xmlns:a="http://schemas.openxmlformats.org/drawingml/2006/main">
              <a:ext uri="{FF2B5EF4-FFF2-40B4-BE49-F238E27FC236}">
                <a16:creationId xmlns:a16="http://schemas.microsoft.com/office/drawing/2014/main" id="{87BEDA15-E94E-4651-872A-10E29A9D3022}"/>
              </a:ext>
            </a:extLst>
          </p:cNvPr>
          <p:cNvSpPr>
            <a:spLocks xmlns:a="http://schemas.openxmlformats.org/drawingml/2006/main" noGrp="1"/>
          </p:cNvSpPr>
          <p:nvPr/>
        </p:nvSpPr>
        <p:spPr>
          <a:xfrm xmlns:a="http://schemas.openxmlformats.org/drawingml/2006/main">
            <a:off x="4514850" y="253365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Applies access rules,</a:t>
            </a:r>
          </a:p>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checks requirements,</a:t>
            </a:r>
          </a:p>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and moves the workflow</a:t>
            </a:r>
          </a:p>
        </p:txBody>
      </p:sp>
      <p:sp>
        <p:nvSpPr>
          <p:cNvPr id="10" name="">
            <a:extLst xmlns:a="http://schemas.openxmlformats.org/drawingml/2006/main">
              <a:ext uri="{FF2B5EF4-FFF2-40B4-BE49-F238E27FC236}">
                <a16:creationId xmlns:a16="http://schemas.microsoft.com/office/drawing/2014/main" id="{B04B26D8-8593-411A-A9DE-88CAF78FA4FF}"/>
              </a:ext>
            </a:extLst>
          </p:cNvPr>
          <p:cNvSpPr>
            <a:spLocks xmlns:a="http://schemas.openxmlformats.org/drawingml/2006/main" noGrp="1"/>
          </p:cNvSpPr>
          <p:nvPr/>
        </p:nvSpPr>
        <p:spPr>
          <a:xfrm xmlns:a="http://schemas.openxmlformats.org/drawingml/2006/main">
            <a:off x="8705850" y="1543050"/>
            <a:ext cx="2571750" cy="1200150"/>
          </a:xfrm>
          <a:prstGeom xmlns:a="http://schemas.openxmlformats.org/drawingml/2006/main" prst="roundRect">
            <a:avLst>
              <a:gd name="adj" fmla="val 14286"/>
            </a:avLst>
          </a:prstGeom>
          <a:solidFill xmlns:a="http://schemas.openxmlformats.org/drawingml/2006/main">
            <a:srgbClr val="F5F6F8"/>
          </a:solidFill>
          <a:ln xmlns:a="http://schemas.openxmlformats.org/drawingml/2006/main" w="9525">
            <a:solidFill>
              <a:srgbClr val="D9DDE3"/>
            </a:solidFill>
          </a:ln>
        </p:spPr>
      </p:sp>
      <p:sp>
        <p:nvSpPr>
          <p:cNvPr id="11" name="">
            <a:extLst xmlns:a="http://schemas.openxmlformats.org/drawingml/2006/main">
              <a:ext uri="{FF2B5EF4-FFF2-40B4-BE49-F238E27FC236}">
                <a16:creationId xmlns:a16="http://schemas.microsoft.com/office/drawing/2014/main" id="{F7DD2DD8-AC4F-44B0-B36B-D89A7F41639B}"/>
              </a:ext>
            </a:extLst>
          </p:cNvPr>
          <p:cNvSpPr>
            <a:spLocks xmlns:a="http://schemas.openxmlformats.org/drawingml/2006/main" noGrp="1"/>
          </p:cNvSpPr>
          <p:nvPr/>
        </p:nvSpPr>
        <p:spPr>
          <a:xfrm xmlns:a="http://schemas.openxmlformats.org/drawingml/2006/main">
            <a:off x="8953500" y="17811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DATABASE</a:t>
            </a:r>
          </a:p>
        </p:txBody>
      </p:sp>
      <p:sp>
        <p:nvSpPr>
          <p:cNvPr id="12" name="">
            <a:extLst xmlns:a="http://schemas.openxmlformats.org/drawingml/2006/main">
              <a:ext uri="{FF2B5EF4-FFF2-40B4-BE49-F238E27FC236}">
                <a16:creationId xmlns:a16="http://schemas.microsoft.com/office/drawing/2014/main" id="{131354F9-6365-48D0-BE0B-9D71CFBB2EDC}"/>
              </a:ext>
            </a:extLst>
          </p:cNvPr>
          <p:cNvSpPr>
            <a:spLocks xmlns:a="http://schemas.openxmlformats.org/drawingml/2006/main" noGrp="1"/>
          </p:cNvSpPr>
          <p:nvPr/>
        </p:nvSpPr>
        <p:spPr>
          <a:xfrm xmlns:a="http://schemas.openxmlformats.org/drawingml/2006/main">
            <a:off x="8953500" y="21336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Stores records</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and status history</a:t>
            </a:r>
          </a:p>
        </p:txBody>
      </p:sp>
      <p:sp>
        <p:nvSpPr>
          <p:cNvPr id="13" name="">
            <a:extLst xmlns:a="http://schemas.openxmlformats.org/drawingml/2006/main">
              <a:ext uri="{FF2B5EF4-FFF2-40B4-BE49-F238E27FC236}">
                <a16:creationId xmlns:a16="http://schemas.microsoft.com/office/drawing/2014/main" id="{537E6941-E6CD-4747-8C4A-824AB97C3FCC}"/>
              </a:ext>
            </a:extLst>
          </p:cNvPr>
          <p:cNvSpPr>
            <a:spLocks xmlns:a="http://schemas.openxmlformats.org/drawingml/2006/main" noGrp="1"/>
          </p:cNvSpPr>
          <p:nvPr/>
        </p:nvSpPr>
        <p:spPr>
          <a:xfrm xmlns:a="http://schemas.openxmlformats.org/drawingml/2006/main">
            <a:off x="8705850" y="3143250"/>
            <a:ext cx="2571750" cy="1200150"/>
          </a:xfrm>
          <a:prstGeom xmlns:a="http://schemas.openxmlformats.org/drawingml/2006/main" prst="roundRect">
            <a:avLst>
              <a:gd name="adj" fmla="val 14286"/>
            </a:avLst>
          </a:prstGeom>
          <a:solidFill xmlns:a="http://schemas.openxmlformats.org/drawingml/2006/main">
            <a:srgbClr val="F5F6F8"/>
          </a:solidFill>
          <a:ln xmlns:a="http://schemas.openxmlformats.org/drawingml/2006/main" w="9525">
            <a:solidFill>
              <a:srgbClr val="D9DDE3"/>
            </a:solidFill>
          </a:ln>
        </p:spPr>
      </p:sp>
      <p:sp>
        <p:nvSpPr>
          <p:cNvPr id="14" name="">
            <a:extLst xmlns:a="http://schemas.openxmlformats.org/drawingml/2006/main">
              <a:ext uri="{FF2B5EF4-FFF2-40B4-BE49-F238E27FC236}">
                <a16:creationId xmlns:a16="http://schemas.microsoft.com/office/drawing/2014/main" id="{798FB195-01D6-4A20-BAF2-330D54753F26}"/>
              </a:ext>
            </a:extLst>
          </p:cNvPr>
          <p:cNvSpPr>
            <a:spLocks xmlns:a="http://schemas.openxmlformats.org/drawingml/2006/main" noGrp="1"/>
          </p:cNvSpPr>
          <p:nvPr/>
        </p:nvSpPr>
        <p:spPr>
          <a:xfrm xmlns:a="http://schemas.openxmlformats.org/drawingml/2006/main">
            <a:off x="8953500" y="3381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FILE STORAGE</a:t>
            </a:r>
          </a:p>
        </p:txBody>
      </p:sp>
      <p:sp>
        <p:nvSpPr>
          <p:cNvPr id="15" name="">
            <a:extLst xmlns:a="http://schemas.openxmlformats.org/drawingml/2006/main">
              <a:ext uri="{FF2B5EF4-FFF2-40B4-BE49-F238E27FC236}">
                <a16:creationId xmlns:a16="http://schemas.microsoft.com/office/drawing/2014/main" id="{9C0FEBE8-B17E-4E26-913B-1E98E0D4876E}"/>
              </a:ext>
            </a:extLst>
          </p:cNvPr>
          <p:cNvSpPr>
            <a:spLocks xmlns:a="http://schemas.openxmlformats.org/drawingml/2006/main" noGrp="1"/>
          </p:cNvSpPr>
          <p:nvPr/>
        </p:nvSpPr>
        <p:spPr>
          <a:xfrm xmlns:a="http://schemas.openxmlformats.org/drawingml/2006/main">
            <a:off x="8953500" y="37338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Keeps uploaded</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documents together</a:t>
            </a:r>
          </a:p>
        </p:txBody>
      </p:sp>
      <p:cxnSp>
        <p:nvCxnSpPr>
          <p:cNvPr id="38" name=""/>
          <p:cNvCxnSpPr>
            <a:stCxn xmlns:a="http://schemas.openxmlformats.org/drawingml/2006/main" id="4" idx="3"/>
            <a:endCxn xmlns:a="http://schemas.openxmlformats.org/drawingml/2006/main" id="7" idx="1"/>
          </p:cNvCxnSpPr>
          <p:nvPr/>
        </p:nvCxnSpPr>
        <p:spPr>
          <a:xfrm xmlns:a="http://schemas.openxmlformats.org/drawingml/2006/main">
            <a:off x="2876550" y="2771775"/>
            <a:ext cx="13335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9" name=""/>
          <p:cNvCxnSpPr>
            <a:stCxn xmlns:a="http://schemas.openxmlformats.org/drawingml/2006/main" id="7" idx="3"/>
            <a:endCxn xmlns:a="http://schemas.openxmlformats.org/drawingml/2006/main" id="10" idx="1"/>
          </p:cNvCxnSpPr>
          <p:nvPr/>
        </p:nvCxnSpPr>
        <p:spPr>
          <a:xfrm xmlns:a="http://schemas.openxmlformats.org/drawingml/2006/main" flipV="1">
            <a:off x="7353300" y="2143125"/>
            <a:ext cx="1352550" cy="628650"/>
          </a:xfrm>
          <a:prstGeom xmlns:a="http://schemas.openxmlformats.org/drawingml/2006/main" prst="bentConnector3">
            <a:avLst>
              <a:gd name="adj1" fmla="val 50000"/>
            </a:avLst>
          </a:prstGeom>
          <a:ln xmlns:a="http://schemas.openxmlformats.org/drawingml/2006/main" w="28575">
            <a:solidFill>
              <a:srgbClr val="FF2327"/>
            </a:solidFill>
            <a:tailEnd type="arrow" w="med" len="med"/>
          </a:ln>
        </p:spPr>
      </p:cxnSp>
      <p:cxnSp>
        <p:nvCxnSpPr>
          <p:cNvPr id="40" name=""/>
          <p:cNvCxnSpPr>
            <a:stCxn xmlns:a="http://schemas.openxmlformats.org/drawingml/2006/main" id="7" idx="3"/>
            <a:endCxn xmlns:a="http://schemas.openxmlformats.org/drawingml/2006/main" id="13" idx="1"/>
          </p:cNvCxnSpPr>
          <p:nvPr/>
        </p:nvCxnSpPr>
        <p:spPr>
          <a:xfrm xmlns:a="http://schemas.openxmlformats.org/drawingml/2006/main">
            <a:off x="7353300" y="2771775"/>
            <a:ext cx="1352550" cy="971550"/>
          </a:xfrm>
          <a:prstGeom xmlns:a="http://schemas.openxmlformats.org/drawingml/2006/main" prst="bentConnector3">
            <a:avLst>
              <a:gd name="adj1" fmla="val 50000"/>
            </a:avLst>
          </a:prstGeom>
          <a:ln xmlns:a="http://schemas.openxmlformats.org/drawingml/2006/main" w="28575">
            <a:solidFill>
              <a:srgbClr val="FF2327"/>
            </a:solidFill>
            <a:tailEnd type="arrow" w="med" len="med"/>
          </a:ln>
        </p:spPr>
      </p:cxnSp>
      <p:sp>
        <p:nvSpPr>
          <p:cNvPr id="19" name="">
            <a:extLst xmlns:a="http://schemas.openxmlformats.org/drawingml/2006/main">
              <a:ext uri="{FF2B5EF4-FFF2-40B4-BE49-F238E27FC236}">
                <a16:creationId xmlns:a16="http://schemas.microsoft.com/office/drawing/2014/main" id="{644CCB01-3C17-47B3-B91A-0BEEBAD5B7F9}"/>
              </a:ext>
            </a:extLst>
          </p:cNvPr>
          <p:cNvSpPr>
            <a:spLocks xmlns:a="http://schemas.openxmlformats.org/drawingml/2006/main" noGrp="1"/>
          </p:cNvSpPr>
          <p:nvPr/>
        </p:nvSpPr>
        <p:spPr>
          <a:xfrm xmlns:a="http://schemas.openxmlformats.org/drawingml/2006/main">
            <a:off x="685800" y="4972050"/>
            <a:ext cx="10591800" cy="876300"/>
          </a:xfrm>
          <a:prstGeom xmlns:a="http://schemas.openxmlformats.org/drawingml/2006/main" prst="roundRect">
            <a:avLst>
              <a:gd name="adj" fmla="val 17391"/>
            </a:avLst>
          </a:prstGeom>
          <a:solidFill xmlns:a="http://schemas.openxmlformats.org/drawingml/2006/main">
            <a:srgbClr val="FFF0F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6DBDEB6-79AF-4849-B774-9C59D0746A97}"/>
              </a:ext>
            </a:extLst>
          </p:cNvPr>
          <p:cNvSpPr>
            <a:spLocks xmlns:a="http://schemas.openxmlformats.org/drawingml/2006/main" noGrp="1"/>
          </p:cNvSpPr>
          <p:nvPr/>
        </p:nvSpPr>
        <p:spPr>
          <a:xfrm xmlns:a="http://schemas.openxmlformats.org/drawingml/2006/main">
            <a:off x="914400" y="519112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AI STATUS</a:t>
            </a:r>
          </a:p>
        </p:txBody>
      </p:sp>
      <p:sp>
        <p:nvSpPr>
          <p:cNvPr id="21" name="">
            <a:extLst xmlns:a="http://schemas.openxmlformats.org/drawingml/2006/main">
              <a:ext uri="{FF2B5EF4-FFF2-40B4-BE49-F238E27FC236}">
                <a16:creationId xmlns:a16="http://schemas.microsoft.com/office/drawing/2014/main" id="{3C6BA496-CAFF-44D6-A6FA-CFA616D15954}"/>
              </a:ext>
            </a:extLst>
          </p:cNvPr>
          <p:cNvSpPr>
            <a:spLocks xmlns:a="http://schemas.openxmlformats.org/drawingml/2006/main" noGrp="1"/>
          </p:cNvSpPr>
          <p:nvPr/>
        </p:nvSpPr>
        <p:spPr>
          <a:xfrm xmlns:a="http://schemas.openxmlformats.org/drawingml/2006/main">
            <a:off x="2190750" y="5105400"/>
            <a:ext cx="871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171C"/>
                </a:solidFill>
                <a:latin typeface="Segoe UI"/>
                <a:ea typeface="Segoe UI"/>
                <a:cs typeface="Segoe UI"/>
              </a:defRPr>
            </a:pPr>
            <a:r>
              <a:rPr sz="1800" b="1">
                <a:solidFill>
                  <a:srgbClr val="15171C"/>
                </a:solidFill>
                <a:latin typeface="Segoe UI"/>
                <a:ea typeface="Segoe UI"/>
                <a:cs typeface="Segoe UI"/>
              </a:rPr>
              <a:t>The current system uses defined workflow rules. Authorized people make every approval decision.</a:t>
            </a:r>
          </a:p>
        </p:txBody>
      </p:sp>
      <p:sp>
        <p:nvSpPr>
          <p:cNvPr id="22" name="">
            <a:extLst xmlns:a="http://schemas.openxmlformats.org/drawingml/2006/main">
              <a:ext uri="{FF2B5EF4-FFF2-40B4-BE49-F238E27FC236}">
                <a16:creationId xmlns:a16="http://schemas.microsoft.com/office/drawing/2014/main" id="{7BCC018C-82D2-4115-9FDE-AB7CE7738C84}"/>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10</a:t>
            </a:r>
          </a:p>
        </p:txBody>
      </p:sp>
    </p:spTree>
    <p:extLst>
      <p:ext uri="{BB962C8B-B14F-4D97-AF65-F5344CB8AC3E}">
        <p14:creationId xmlns:p14="http://schemas.microsoft.com/office/powerpoint/2010/main" val="1514084139"/>
      </p:ext>
    </p:extLst>
  </p:cSld>
</p:sld>
</file>

<file path=ppt/slides/slide11.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9D3120B-05F5-4511-9FF0-6F26AB454FA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72D5FF-8F5F-41E4-9456-A159DB0A617E}"/>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Ready for stakeholder validation</a:t>
            </a:r>
          </a:p>
        </p:txBody>
      </p:sp>
      <p:sp>
        <p:nvSpPr>
          <p:cNvPr id="3" name="">
            <a:extLst xmlns:a="http://schemas.openxmlformats.org/drawingml/2006/main">
              <a:ext uri="{FF2B5EF4-FFF2-40B4-BE49-F238E27FC236}">
                <a16:creationId xmlns:a16="http://schemas.microsoft.com/office/drawing/2014/main" id="{777F1DF1-7AF4-4F81-B31B-DD7A00FABBCA}"/>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core workflow works today, with clear steps before wider rollout</a:t>
            </a:r>
          </a:p>
        </p:txBody>
      </p:sp>
      <p:sp>
        <p:nvSpPr>
          <p:cNvPr id="4" name="">
            <a:extLst xmlns:a="http://schemas.openxmlformats.org/drawingml/2006/main">
              <a:ext uri="{FF2B5EF4-FFF2-40B4-BE49-F238E27FC236}">
                <a16:creationId xmlns:a16="http://schemas.microsoft.com/office/drawing/2014/main" id="{D4FB6603-FB4A-40F7-8D28-DABE72EA11EA}"/>
              </a:ext>
            </a:extLst>
          </p:cNvPr>
          <p:cNvSpPr>
            <a:spLocks xmlns:a="http://schemas.openxmlformats.org/drawingml/2006/main" noGrp="1"/>
          </p:cNvSpPr>
          <p:nvPr/>
        </p:nvSpPr>
        <p:spPr>
          <a:xfrm xmlns:a="http://schemas.openxmlformats.org/drawingml/2006/main">
            <a:off x="685800" y="1619250"/>
            <a:ext cx="114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33</a:t>
            </a:r>
          </a:p>
        </p:txBody>
      </p:sp>
      <p:sp>
        <p:nvSpPr>
          <p:cNvPr id="5" name="">
            <a:extLst xmlns:a="http://schemas.openxmlformats.org/drawingml/2006/main">
              <a:ext uri="{FF2B5EF4-FFF2-40B4-BE49-F238E27FC236}">
                <a16:creationId xmlns:a16="http://schemas.microsoft.com/office/drawing/2014/main" id="{CE084EC2-29F1-45CE-86FE-7D79165C1DC7}"/>
              </a:ext>
            </a:extLst>
          </p:cNvPr>
          <p:cNvSpPr>
            <a:spLocks xmlns:a="http://schemas.openxmlformats.org/drawingml/2006/main" noGrp="1"/>
          </p:cNvSpPr>
          <p:nvPr/>
        </p:nvSpPr>
        <p:spPr>
          <a:xfrm xmlns:a="http://schemas.openxmlformats.org/drawingml/2006/main">
            <a:off x="704850" y="2276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backend tests passed</a:t>
            </a:r>
          </a:p>
        </p:txBody>
      </p:sp>
      <p:sp>
        <p:nvSpPr>
          <p:cNvPr id="6" name="">
            <a:extLst xmlns:a="http://schemas.openxmlformats.org/drawingml/2006/main">
              <a:ext uri="{FF2B5EF4-FFF2-40B4-BE49-F238E27FC236}">
                <a16:creationId xmlns:a16="http://schemas.microsoft.com/office/drawing/2014/main" id="{C3DC0AB8-966B-4E65-82D7-DB71FD1908F9}"/>
              </a:ext>
            </a:extLst>
          </p:cNvPr>
          <p:cNvSpPr>
            <a:spLocks xmlns:a="http://schemas.openxmlformats.org/drawingml/2006/main" noGrp="1"/>
          </p:cNvSpPr>
          <p:nvPr/>
        </p:nvSpPr>
        <p:spPr>
          <a:xfrm xmlns:a="http://schemas.openxmlformats.org/drawingml/2006/main">
            <a:off x="2762250" y="16192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12</a:t>
            </a:r>
          </a:p>
        </p:txBody>
      </p:sp>
      <p:sp>
        <p:nvSpPr>
          <p:cNvPr id="7" name="">
            <a:extLst xmlns:a="http://schemas.openxmlformats.org/drawingml/2006/main">
              <a:ext uri="{FF2B5EF4-FFF2-40B4-BE49-F238E27FC236}">
                <a16:creationId xmlns:a16="http://schemas.microsoft.com/office/drawing/2014/main" id="{8014A52B-7028-4BFB-9434-E024AF8E731D}"/>
              </a:ext>
            </a:extLst>
          </p:cNvPr>
          <p:cNvSpPr>
            <a:spLocks xmlns:a="http://schemas.openxmlformats.org/drawingml/2006/main" noGrp="1"/>
          </p:cNvSpPr>
          <p:nvPr/>
        </p:nvSpPr>
        <p:spPr>
          <a:xfrm xmlns:a="http://schemas.openxmlformats.org/drawingml/2006/main">
            <a:off x="2781300" y="22764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browser scenarios passed</a:t>
            </a:r>
          </a:p>
        </p:txBody>
      </p:sp>
      <p:sp>
        <p:nvSpPr>
          <p:cNvPr id="8" name="">
            <a:extLst xmlns:a="http://schemas.openxmlformats.org/drawingml/2006/main">
              <a:ext uri="{FF2B5EF4-FFF2-40B4-BE49-F238E27FC236}">
                <a16:creationId xmlns:a16="http://schemas.microsoft.com/office/drawing/2014/main" id="{DE3CB75B-F3F5-4E15-85EC-AE2537393842}"/>
              </a:ext>
            </a:extLst>
          </p:cNvPr>
          <p:cNvSpPr>
            <a:spLocks xmlns:a="http://schemas.openxmlformats.org/drawingml/2006/main" noGrp="1"/>
          </p:cNvSpPr>
          <p:nvPr/>
        </p:nvSpPr>
        <p:spPr>
          <a:xfrm xmlns:a="http://schemas.openxmlformats.org/drawingml/2006/main">
            <a:off x="5181600" y="1619250"/>
            <a:ext cx="123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V60</a:t>
            </a:r>
          </a:p>
        </p:txBody>
      </p:sp>
      <p:sp>
        <p:nvSpPr>
          <p:cNvPr id="9" name="">
            <a:extLst xmlns:a="http://schemas.openxmlformats.org/drawingml/2006/main">
              <a:ext uri="{FF2B5EF4-FFF2-40B4-BE49-F238E27FC236}">
                <a16:creationId xmlns:a16="http://schemas.microsoft.com/office/drawing/2014/main" id="{1FEB66C8-B88B-433D-A464-39BFDC619701}"/>
              </a:ext>
            </a:extLst>
          </p:cNvPr>
          <p:cNvSpPr>
            <a:spLocks xmlns:a="http://schemas.openxmlformats.org/drawingml/2006/main" noGrp="1"/>
          </p:cNvSpPr>
          <p:nvPr/>
        </p:nvSpPr>
        <p:spPr>
          <a:xfrm xmlns:a="http://schemas.openxmlformats.org/drawingml/2006/main">
            <a:off x="5200650" y="2276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clean setup verified</a:t>
            </a:r>
          </a:p>
        </p:txBody>
      </p:sp>
      <p:sp>
        <p:nvSpPr>
          <p:cNvPr id="10" name="">
            <a:extLst xmlns:a="http://schemas.openxmlformats.org/drawingml/2006/main">
              <a:ext uri="{FF2B5EF4-FFF2-40B4-BE49-F238E27FC236}">
                <a16:creationId xmlns:a16="http://schemas.microsoft.com/office/drawing/2014/main" id="{9FA570E9-24E7-4ADC-BCE8-5CB3D77F5477}"/>
              </a:ext>
            </a:extLst>
          </p:cNvPr>
          <p:cNvSpPr>
            <a:spLocks xmlns:a="http://schemas.openxmlformats.org/drawingml/2006/main" noGrp="1"/>
          </p:cNvSpPr>
          <p:nvPr/>
        </p:nvSpPr>
        <p:spPr>
          <a:xfrm xmlns:a="http://schemas.openxmlformats.org/drawingml/2006/main">
            <a:off x="628650" y="3028950"/>
            <a:ext cx="19050" cy="25717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B019CF5-49CD-446E-A733-84219064F638}"/>
              </a:ext>
            </a:extLst>
          </p:cNvPr>
          <p:cNvSpPr>
            <a:spLocks xmlns:a="http://schemas.openxmlformats.org/drawingml/2006/main" noGrp="1"/>
          </p:cNvSpPr>
          <p:nvPr/>
        </p:nvSpPr>
        <p:spPr>
          <a:xfrm xmlns:a="http://schemas.openxmlformats.org/drawingml/2006/main">
            <a:off x="876300" y="30480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READY TODAY</a:t>
            </a:r>
          </a:p>
        </p:txBody>
      </p:sp>
      <p:sp>
        <p:nvSpPr>
          <p:cNvPr id="12" name="">
            <a:extLst xmlns:a="http://schemas.openxmlformats.org/drawingml/2006/main">
              <a:ext uri="{FF2B5EF4-FFF2-40B4-BE49-F238E27FC236}">
                <a16:creationId xmlns:a16="http://schemas.microsoft.com/office/drawing/2014/main" id="{C1A3CEEA-43A6-4536-9A9E-00923F64BD05}"/>
              </a:ext>
            </a:extLst>
          </p:cNvPr>
          <p:cNvSpPr>
            <a:spLocks xmlns:a="http://schemas.openxmlformats.org/drawingml/2006/main" noGrp="1"/>
          </p:cNvSpPr>
          <p:nvPr/>
        </p:nvSpPr>
        <p:spPr>
          <a:xfrm xmlns:a="http://schemas.openxmlformats.org/drawingml/2006/main">
            <a:off x="876300" y="3486150"/>
            <a:ext cx="45243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Core student and review workflow</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Current masterlist and active directory</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Repeatable Windows setup and migrations</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Production frontend build</a:t>
            </a:r>
          </a:p>
        </p:txBody>
      </p:sp>
      <p:sp>
        <p:nvSpPr>
          <p:cNvPr id="13" name="">
            <a:extLst xmlns:a="http://schemas.openxmlformats.org/drawingml/2006/main">
              <a:ext uri="{FF2B5EF4-FFF2-40B4-BE49-F238E27FC236}">
                <a16:creationId xmlns:a16="http://schemas.microsoft.com/office/drawing/2014/main" id="{A55913B1-7707-43D8-A464-95BDB13B8F60}"/>
              </a:ext>
            </a:extLst>
          </p:cNvPr>
          <p:cNvSpPr>
            <a:spLocks xmlns:a="http://schemas.openxmlformats.org/drawingml/2006/main" noGrp="1"/>
          </p:cNvSpPr>
          <p:nvPr/>
        </p:nvSpPr>
        <p:spPr>
          <a:xfrm xmlns:a="http://schemas.openxmlformats.org/drawingml/2006/main">
            <a:off x="6172200" y="3028950"/>
            <a:ext cx="19050" cy="25717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0EC475C-7E3E-454C-906C-FCEC4AC228E6}"/>
              </a:ext>
            </a:extLst>
          </p:cNvPr>
          <p:cNvSpPr>
            <a:spLocks xmlns:a="http://schemas.openxmlformats.org/drawingml/2006/main" noGrp="1"/>
          </p:cNvSpPr>
          <p:nvPr/>
        </p:nvSpPr>
        <p:spPr>
          <a:xfrm xmlns:a="http://schemas.openxmlformats.org/drawingml/2006/main">
            <a:off x="6419850" y="304800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NEXT BEFORE WIDER ROLLOUT</a:t>
            </a:r>
          </a:p>
        </p:txBody>
      </p:sp>
      <p:sp>
        <p:nvSpPr>
          <p:cNvPr id="15" name="">
            <a:extLst xmlns:a="http://schemas.openxmlformats.org/drawingml/2006/main">
              <a:ext uri="{FF2B5EF4-FFF2-40B4-BE49-F238E27FC236}">
                <a16:creationId xmlns:a16="http://schemas.microsoft.com/office/drawing/2014/main" id="{255F79F4-4DA3-4B56-A7FB-3A569A78A8CF}"/>
              </a:ext>
            </a:extLst>
          </p:cNvPr>
          <p:cNvSpPr>
            <a:spLocks xmlns:a="http://schemas.openxmlformats.org/drawingml/2006/main" noGrp="1"/>
          </p:cNvSpPr>
          <p:nvPr/>
        </p:nvSpPr>
        <p:spPr>
          <a:xfrm xmlns:a="http://schemas.openxmlformats.org/drawingml/2006/main">
            <a:off x="6419850" y="3486150"/>
            <a:ext cx="4762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Stakeholder user acceptance testing</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Production credentials and access policy</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Email, backup, and deployment configuration</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Optional AI assistance requires policy review</a:t>
            </a:r>
          </a:p>
        </p:txBody>
      </p:sp>
      <p:sp>
        <p:nvSpPr>
          <p:cNvPr id="16" name="">
            <a:extLst xmlns:a="http://schemas.openxmlformats.org/drawingml/2006/main">
              <a:ext uri="{FF2B5EF4-FFF2-40B4-BE49-F238E27FC236}">
                <a16:creationId xmlns:a16="http://schemas.microsoft.com/office/drawing/2014/main" id="{48B039B7-200D-40EF-9EB2-D0B4A431BB85}"/>
              </a:ext>
            </a:extLst>
          </p:cNvPr>
          <p:cNvSpPr>
            <a:spLocks xmlns:a="http://schemas.openxmlformats.org/drawingml/2006/main" noGrp="1"/>
          </p:cNvSpPr>
          <p:nvPr/>
        </p:nvSpPr>
        <p:spPr>
          <a:xfrm xmlns:a="http://schemas.openxmlformats.org/drawingml/2006/main">
            <a:off x="876300" y="58959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6B7280"/>
                </a:solidFill>
                <a:latin typeface="Segoe UI"/>
                <a:ea typeface="Segoe UI"/>
                <a:cs typeface="Segoe UI"/>
              </a:defRPr>
            </a:pPr>
            <a:r>
              <a:rPr sz="1500" b="1">
                <a:solidFill>
                  <a:srgbClr val="6B7280"/>
                </a:solidFill>
                <a:latin typeface="Segoe UI"/>
                <a:ea typeface="Segoe UI"/>
                <a:cs typeface="Segoe UI"/>
              </a:rPr>
              <a:t>Planned AI option: document completeness hints or draft summaries. No AI approval decisions.</a:t>
            </a:r>
          </a:p>
        </p:txBody>
      </p:sp>
      <p:sp>
        <p:nvSpPr>
          <p:cNvPr id="17" name="">
            <a:extLst xmlns:a="http://schemas.openxmlformats.org/drawingml/2006/main">
              <a:ext uri="{FF2B5EF4-FFF2-40B4-BE49-F238E27FC236}">
                <a16:creationId xmlns:a16="http://schemas.microsoft.com/office/drawing/2014/main" id="{FA8DECC9-2D50-455A-BD19-676CE20C4EDB}"/>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11</a:t>
            </a:r>
          </a:p>
        </p:txBody>
      </p:sp>
    </p:spTree>
    <p:extLst>
      <p:ext uri="{BB962C8B-B14F-4D97-AF65-F5344CB8AC3E}">
        <p14:creationId xmlns:p14="http://schemas.microsoft.com/office/powerpoint/2010/main" val="1860123139"/>
      </p:ext>
    </p:extLst>
  </p:cSld>
</p:sld>
</file>

<file path=ppt/slides/slide12.xml><?xml version="1.0" encoding="utf-8"?>
<p:sld xmlns:p="http://schemas.openxmlformats.org/presentationml/2006/main">
  <p:cSld>
    <p:bg>
      <p:bgPr>
        <a:solidFill xmlns:a="http://schemas.openxmlformats.org/drawingml/2006/main">
          <a:srgbClr val="FF232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377C43-E4EE-4D7B-8D77-575FC3976D33}"/>
              </a:ext>
            </a:extLst>
          </p:cNvPr>
          <p:cNvSpPr>
            <a:spLocks xmlns:a="http://schemas.openxmlformats.org/drawingml/2006/main" noGrp="1"/>
          </p:cNvSpPr>
          <p:nvPr/>
        </p:nvSpPr>
        <p:spPr>
          <a:xfrm xmlns:a="http://schemas.openxmlformats.org/drawingml/2006/main">
            <a:off x="647700" y="5334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SSC PORTAL</a:t>
            </a:r>
          </a:p>
        </p:txBody>
      </p:sp>
      <p:sp>
        <p:nvSpPr>
          <p:cNvPr id="2" name="">
            <a:extLst xmlns:a="http://schemas.openxmlformats.org/drawingml/2006/main">
              <a:ext uri="{FF2B5EF4-FFF2-40B4-BE49-F238E27FC236}">
                <a16:creationId xmlns:a16="http://schemas.microsoft.com/office/drawing/2014/main" id="{722CC77C-F509-49F2-B56D-84A70AD1DCC6}"/>
              </a:ext>
            </a:extLst>
          </p:cNvPr>
          <p:cNvSpPr>
            <a:spLocks xmlns:a="http://schemas.openxmlformats.org/drawingml/2006/main" noGrp="1"/>
          </p:cNvSpPr>
          <p:nvPr/>
        </p:nvSpPr>
        <p:spPr>
          <a:xfrm xmlns:a="http://schemas.openxmlformats.org/drawingml/2006/main">
            <a:off x="647700" y="1581150"/>
            <a:ext cx="9906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Every event begins</a:t>
            </a:r>
          </a:p>
          <a:p xmlns:a="http://schemas.openxmlformats.org/drawingml/2006/main">
            <a:pPr algn="l">
              <a:lnSpc>
                <a:spcPct val="95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with a clear next step</a:t>
            </a:r>
          </a:p>
        </p:txBody>
      </p:sp>
      <p:sp>
        <p:nvSpPr>
          <p:cNvPr id="3" name="">
            <a:extLst xmlns:a="http://schemas.openxmlformats.org/drawingml/2006/main">
              <a:ext uri="{FF2B5EF4-FFF2-40B4-BE49-F238E27FC236}">
                <a16:creationId xmlns:a16="http://schemas.microsoft.com/office/drawing/2014/main" id="{167E7FE4-6D04-42A4-B4C4-37CCB59645DB}"/>
              </a:ext>
            </a:extLst>
          </p:cNvPr>
          <p:cNvSpPr>
            <a:spLocks xmlns:a="http://schemas.openxmlformats.org/drawingml/2006/main" noGrp="1"/>
          </p:cNvSpPr>
          <p:nvPr/>
        </p:nvSpPr>
        <p:spPr>
          <a:xfrm xmlns:a="http://schemas.openxmlformats.org/drawingml/2006/main">
            <a:off x="647700" y="3600450"/>
            <a:ext cx="895350" cy="666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88E5DBE-B1E6-426D-9BAF-8C60C9614EC1}"/>
              </a:ext>
            </a:extLst>
          </p:cNvPr>
          <p:cNvSpPr>
            <a:spLocks xmlns:a="http://schemas.openxmlformats.org/drawingml/2006/main" noGrp="1"/>
          </p:cNvSpPr>
          <p:nvPr/>
        </p:nvSpPr>
        <p:spPr>
          <a:xfrm xmlns:a="http://schemas.openxmlformats.org/drawingml/2006/main">
            <a:off x="647700" y="4057650"/>
            <a:ext cx="9144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Segoe UI"/>
                <a:ea typeface="Segoe UI"/>
                <a:cs typeface="Segoe UI"/>
              </a:defRPr>
            </a:pPr>
            <a:r>
              <a:rPr sz="2175" b="0">
                <a:solidFill>
                  <a:srgbClr val="FFFFFF"/>
                </a:solidFill>
                <a:latin typeface="Segoe UI"/>
                <a:ea typeface="Segoe UI"/>
                <a:cs typeface="Segoe UI"/>
              </a:rPr>
              <a:t>A shared proposal journey gives students clarity, staff a focused review queue, and stakeholders a process they can follow.</a:t>
            </a:r>
          </a:p>
        </p:txBody>
      </p:sp>
      <p:sp>
        <p:nvSpPr>
          <p:cNvPr id="5" name="">
            <a:extLst xmlns:a="http://schemas.openxmlformats.org/drawingml/2006/main">
              <a:ext uri="{FF2B5EF4-FFF2-40B4-BE49-F238E27FC236}">
                <a16:creationId xmlns:a16="http://schemas.microsoft.com/office/drawing/2014/main" id="{77C085FE-992E-484E-878D-EE184EBD7EA4}"/>
              </a:ext>
            </a:extLst>
          </p:cNvPr>
          <p:cNvSpPr>
            <a:spLocks xmlns:a="http://schemas.openxmlformats.org/drawingml/2006/main" noGrp="1"/>
          </p:cNvSpPr>
          <p:nvPr/>
        </p:nvSpPr>
        <p:spPr>
          <a:xfrm xmlns:a="http://schemas.openxmlformats.org/drawingml/2006/main">
            <a:off x="647700" y="5467350"/>
            <a:ext cx="5581650" cy="704850"/>
          </a:xfrm>
          <a:prstGeom xmlns:a="http://schemas.openxmlformats.org/drawingml/2006/main" prst="roundRect">
            <a:avLst>
              <a:gd name="adj" fmla="val 24324"/>
            </a:avLst>
          </a:prstGeom>
          <a:solidFill xmlns:a="http://schemas.openxmlformats.org/drawingml/2006/main">
            <a:srgbClr val="15171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2D86DC-47C5-4E92-87F1-E649682B6C46}"/>
              </a:ext>
            </a:extLst>
          </p:cNvPr>
          <p:cNvSpPr>
            <a:spLocks xmlns:a="http://schemas.openxmlformats.org/drawingml/2006/main" noGrp="1"/>
          </p:cNvSpPr>
          <p:nvPr/>
        </p:nvSpPr>
        <p:spPr>
          <a:xfrm xmlns:a="http://schemas.openxmlformats.org/drawingml/2006/main">
            <a:off x="895350" y="5695950"/>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Recommended next step: stakeholder user testing</a:t>
            </a:r>
          </a:p>
        </p:txBody>
      </p:sp>
      <p:sp>
        <p:nvSpPr>
          <p:cNvPr id="7" name="">
            <a:extLst xmlns:a="http://schemas.openxmlformats.org/drawingml/2006/main">
              <a:ext uri="{FF2B5EF4-FFF2-40B4-BE49-F238E27FC236}">
                <a16:creationId xmlns:a16="http://schemas.microsoft.com/office/drawing/2014/main" id="{58CA8824-4585-4638-BE7A-65EF091FADFF}"/>
              </a:ext>
            </a:extLst>
          </p:cNvPr>
          <p:cNvSpPr>
            <a:spLocks xmlns:a="http://schemas.openxmlformats.org/drawingml/2006/main" noGrp="1"/>
          </p:cNvSpPr>
          <p:nvPr/>
        </p:nvSpPr>
        <p:spPr>
          <a:xfrm xmlns:a="http://schemas.openxmlformats.org/drawingml/2006/main">
            <a:off x="9620250" y="58864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FFFFFF"/>
                </a:solidFill>
                <a:latin typeface="Segoe UI"/>
                <a:ea typeface="Segoe UI"/>
                <a:cs typeface="Segoe UI"/>
              </a:defRPr>
            </a:pPr>
            <a:r>
              <a:rPr sz="1950" b="1">
                <a:solidFill>
                  <a:srgbClr val="FFFFFF"/>
                </a:solidFill>
                <a:latin typeface="Segoe UI"/>
                <a:ea typeface="Segoe UI"/>
                <a:cs typeface="Segoe UI"/>
              </a:rPr>
              <a:t>Thank you</a:t>
            </a:r>
          </a:p>
        </p:txBody>
      </p:sp>
    </p:spTree>
    <p:extLst>
      <p:ext uri="{BB962C8B-B14F-4D97-AF65-F5344CB8AC3E}">
        <p14:creationId xmlns:p14="http://schemas.microsoft.com/office/powerpoint/2010/main" val="16971967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2026-09-08T14:46:25.7580000Z</dcterms:created>
  <dcterms:modified xsi:type="dcterms:W3CDTF">2026-09-08T14:46:25.7580000Z</dcterms:modified>
</coreProperties>
</file>